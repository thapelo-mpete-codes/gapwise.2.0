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0815" autoAdjust="0"/>
    <p:restoredTop sz="94610"/>
  </p:normalViewPr>
  <p:slideViewPr>
    <p:cSldViewPr snapToGrid="0" snapToObjects="1">
      <p:cViewPr varScale="1">
        <p:scale>
          <a:sx n="40" d="100"/>
          <a:sy n="40" d="100"/>
        </p:scale>
        <p:origin x="120" y="60"/>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tableStyles" Target="tableStyles.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5" name="Slide Image Placeholder 1"/>
          <p:cNvSpPr>
            <a:spLocks noChangeAspect="1" noRot="1" noGrp="1"/>
          </p:cNvSpPr>
          <p:nvPr>
            <p:ph type="sldImg"/>
          </p:nvPr>
        </p:nvSpPr>
        <p:spPr/>
      </p:sp>
      <p:sp>
        <p:nvSpPr>
          <p:cNvPr id="1048586" name="Notes Placeholder 2"/>
          <p:cNvSpPr>
            <a:spLocks noGrp="1"/>
          </p:cNvSpPr>
          <p:nvPr>
            <p:ph type="body" idx="1"/>
          </p:nvPr>
        </p:nvSpPr>
        <p:spPr/>
        <p:txBody>
          <a:bodyPr/>
          <a:p>
            <a:r>
              <a:rPr dirty="0" lang="en-US"/>
              <a:t>Every year, thousands of South African learners open their exam results... and see a mark. Not an explanation. Not a reason. Just a number that tells them they failed — without ever telling them what they don't understand.</a:t>
            </a:r>
          </a:p>
        </p:txBody>
      </p:sp>
      <p:sp>
        <p:nvSpPr>
          <p:cNvPr id="1048587"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8" name="Slide Image Placeholder 1"/>
          <p:cNvSpPr>
            <a:spLocks noChangeAspect="1" noRot="1" noGrp="1"/>
          </p:cNvSpPr>
          <p:nvPr>
            <p:ph type="sldImg"/>
          </p:nvPr>
        </p:nvSpPr>
        <p:spPr/>
      </p:sp>
      <p:sp>
        <p:nvSpPr>
          <p:cNvPr id="1048599" name="Notes Placeholder 2"/>
          <p:cNvSpPr>
            <a:spLocks noGrp="1"/>
          </p:cNvSpPr>
          <p:nvPr>
            <p:ph type="body" idx="1"/>
          </p:nvPr>
        </p:nvSpPr>
        <p:spPr/>
        <p:txBody>
          <a:bodyPr/>
          <a:p>
            <a:r>
              <a:rPr dirty="0" lang="en-US"/>
              <a:t>For learners, this means studying blindly — cramming entire syllabi instead of the two or three topics actually holding them back. For teachers, it means knowing which learners are struggling, but not having the time or tools to diagnose why, learner by learner, topic by topic.</a:t>
            </a:r>
          </a:p>
        </p:txBody>
      </p:sp>
      <p:sp>
        <p:nvSpPr>
          <p:cNvPr id="1048600"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3" name="Slide Image Placeholder 1"/>
          <p:cNvSpPr>
            <a:spLocks noChangeAspect="1" noRot="1" noGrp="1"/>
          </p:cNvSpPr>
          <p:nvPr>
            <p:ph type="sldImg"/>
          </p:nvPr>
        </p:nvSpPr>
        <p:spPr/>
      </p:sp>
      <p:sp>
        <p:nvSpPr>
          <p:cNvPr id="1048614" name="Notes Placeholder 2"/>
          <p:cNvSpPr>
            <a:spLocks noGrp="1"/>
          </p:cNvSpPr>
          <p:nvPr>
            <p:ph type="body" idx="1"/>
          </p:nvPr>
        </p:nvSpPr>
        <p:spPr/>
        <p:txBody>
          <a:bodyPr/>
          <a:p>
            <a:r>
              <a:rPr dirty="0" lang="en-US"/>
              <a:t>The result is a system-wide loss: wasted study hours, wasted teaching time, and — because time in a school year doesn't come back — learning that's lost for good. This is the gap GapWise exists to close.</a:t>
            </a:r>
          </a:p>
        </p:txBody>
      </p:sp>
      <p:sp>
        <p:nvSpPr>
          <p:cNvPr id="1048615"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6" name="Slide Image Placeholder 1"/>
          <p:cNvSpPr>
            <a:spLocks noChangeAspect="1" noRot="1" noGrp="1"/>
          </p:cNvSpPr>
          <p:nvPr>
            <p:ph type="sldImg"/>
          </p:nvPr>
        </p:nvSpPr>
        <p:spPr/>
      </p:sp>
      <p:sp>
        <p:nvSpPr>
          <p:cNvPr id="1048627" name="Notes Placeholder 2"/>
          <p:cNvSpPr>
            <a:spLocks noGrp="1"/>
          </p:cNvSpPr>
          <p:nvPr>
            <p:ph type="body" idx="1"/>
          </p:nvPr>
        </p:nvSpPr>
        <p:spPr/>
        <p:txBody>
          <a:bodyPr/>
          <a:p>
            <a:r>
              <a:rPr dirty="0" lang="en-US"/>
              <a:t>That's why we built GapWise — a diagnostic learning platform aligned to the CAPS curriculum, that doesn't just mark a learner's work. It tells them, and their teacher, exactly where the gap is — and exactly what to do next.</a:t>
            </a:r>
          </a:p>
        </p:txBody>
      </p:sp>
      <p:sp>
        <p:nvSpPr>
          <p:cNvPr id="1048628"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39" name="Slide Image Placeholder 1"/>
          <p:cNvSpPr>
            <a:spLocks noChangeAspect="1" noRot="1" noGrp="1"/>
          </p:cNvSpPr>
          <p:nvPr>
            <p:ph type="sldImg"/>
          </p:nvPr>
        </p:nvSpPr>
        <p:spPr/>
      </p:sp>
      <p:sp>
        <p:nvSpPr>
          <p:cNvPr id="1048640" name="Notes Placeholder 2"/>
          <p:cNvSpPr>
            <a:spLocks noGrp="1"/>
          </p:cNvSpPr>
          <p:nvPr>
            <p:ph type="body" idx="1"/>
          </p:nvPr>
        </p:nvSpPr>
        <p:spPr/>
        <p:txBody>
          <a:bodyPr/>
          <a:p>
            <a:r>
              <a:rPr dirty="0" lang="en-US"/>
              <a:t>It starts simply. A learner creates an account, selects their grade and subject, and takes a short, timed diagnostic — built to feel like a real exam, not a quiz. Every answer is captured and analysed by our rule-based diagnostic engine as they go.</a:t>
            </a:r>
          </a:p>
        </p:txBody>
      </p:sp>
      <p:sp>
        <p:nvSpPr>
          <p:cNvPr id="1048641"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p>
            <a:r>
              <a:rPr dirty="0" lang="en-US"/>
              <a:t>Instead of a single mark, GapWise breaks performance down topic by topic — Algebra, Functions, Geometry, Trigonometry — and instantly recommends a personalised pathway. This learner doesn't need to study everything. They need Algebra first, then Functions. That's the shift from marking to diagnosing.</a:t>
            </a:r>
          </a:p>
        </p:txBody>
      </p:sp>
      <p:sp>
        <p:nvSpPr>
          <p:cNvPr id="1048658"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70" name="Slide Image Placeholder 1"/>
          <p:cNvSpPr>
            <a:spLocks noChangeAspect="1" noRot="1" noGrp="1"/>
          </p:cNvSpPr>
          <p:nvPr>
            <p:ph type="sldImg"/>
          </p:nvPr>
        </p:nvSpPr>
        <p:spPr/>
      </p:sp>
      <p:sp>
        <p:nvSpPr>
          <p:cNvPr id="1048671" name="Notes Placeholder 2"/>
          <p:cNvSpPr>
            <a:spLocks noGrp="1"/>
          </p:cNvSpPr>
          <p:nvPr>
            <p:ph type="body" idx="1"/>
          </p:nvPr>
        </p:nvSpPr>
        <p:spPr/>
        <p:txBody>
          <a:bodyPr/>
          <a:p>
            <a:r>
              <a:rPr dirty="0" lang="en-US"/>
              <a:t>Every time a learner logs in, they land on a dashboard that already knows their strongest topic and their next focus area. One click takes them into a structured lesson — learning goals, key concepts, a worked example, even exam and study tips — built specifically around their diagnosed gap.</a:t>
            </a:r>
          </a:p>
        </p:txBody>
      </p:sp>
      <p:sp>
        <p:nvSpPr>
          <p:cNvPr id="1048672"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88" name="Slide Image Placeholder 1"/>
          <p:cNvSpPr>
            <a:spLocks noChangeAspect="1" noRot="1" noGrp="1"/>
          </p:cNvSpPr>
          <p:nvPr>
            <p:ph type="sldImg"/>
          </p:nvPr>
        </p:nvSpPr>
        <p:spPr/>
      </p:sp>
      <p:sp>
        <p:nvSpPr>
          <p:cNvPr id="1048689" name="Notes Placeholder 2"/>
          <p:cNvSpPr>
            <a:spLocks noGrp="1"/>
          </p:cNvSpPr>
          <p:nvPr>
            <p:ph type="body" idx="1"/>
          </p:nvPr>
        </p:nvSpPr>
        <p:spPr/>
        <p:txBody>
          <a:bodyPr/>
          <a:p>
            <a:r>
              <a:rPr dirty="0" lang="en-US"/>
              <a:t>For teachers, GapWise aggregates every learner's diagnostic into one view — which topics the whole class is struggling with, and which individual learners need attention first, ranked by priority. What used to take hours of manual marking analysis now takes seconds.</a:t>
            </a:r>
          </a:p>
        </p:txBody>
      </p:sp>
      <p:sp>
        <p:nvSpPr>
          <p:cNvPr id="1048690"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707" name="Slide Image Placeholder 1"/>
          <p:cNvSpPr>
            <a:spLocks noChangeAspect="1" noRot="1" noGrp="1"/>
          </p:cNvSpPr>
          <p:nvPr>
            <p:ph type="sldImg"/>
          </p:nvPr>
        </p:nvSpPr>
        <p:spPr/>
      </p:sp>
      <p:sp>
        <p:nvSpPr>
          <p:cNvPr id="1048708" name="Notes Placeholder 2"/>
          <p:cNvSpPr>
            <a:spLocks noGrp="1"/>
          </p:cNvSpPr>
          <p:nvPr>
            <p:ph type="body" idx="1"/>
          </p:nvPr>
        </p:nvSpPr>
        <p:spPr/>
        <p:txBody>
          <a:bodyPr/>
          <a:p>
            <a:r>
              <a:rPr dirty="0" lang="en-US"/>
              <a:t>Our model is simple: schools subscribe to GapWise. Commercial, well-resourced schools can sponsor access for disadvantaged schools through the same platform — so the schools that can pay, help fund the schools that can't. It's a subscription model with a built-in social impact multiplier.</a:t>
            </a:r>
          </a:p>
        </p:txBody>
      </p:sp>
      <p:sp>
        <p:nvSpPr>
          <p:cNvPr id="1048709"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726" name="Slide Image Placeholder 1"/>
          <p:cNvSpPr>
            <a:spLocks noChangeAspect="1" noRot="1" noGrp="1"/>
          </p:cNvSpPr>
          <p:nvPr>
            <p:ph type="sldImg"/>
          </p:nvPr>
        </p:nvSpPr>
        <p:spPr/>
      </p:sp>
      <p:sp>
        <p:nvSpPr>
          <p:cNvPr id="1048727" name="Notes Placeholder 2"/>
          <p:cNvSpPr>
            <a:spLocks noGrp="1"/>
          </p:cNvSpPr>
          <p:nvPr>
            <p:ph type="body" idx="1"/>
          </p:nvPr>
        </p:nvSpPr>
        <p:spPr/>
        <p:txBody>
          <a:bodyPr/>
          <a:p>
            <a:r>
              <a:rPr dirty="0" lang="en-US"/>
              <a:t>Today, GapWise closes the gap in Mathematics for South African learners. Tomorrow, it's every CAPS subject, every grade, powered by AI — until no learner in South Africa opens an exam result without knowing exactly what to do next. That's GapWise. Thank you.</a:t>
            </a:r>
          </a:p>
        </p:txBody>
      </p:sp>
      <p:sp>
        <p:nvSpPr>
          <p:cNvPr id="1048728"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5" name=""/>
        <p:cNvGrpSpPr/>
        <p:nvPr/>
      </p:nvGrpSpPr>
      <p:grpSpPr>
        <a:xfrm>
          <a:off x="0" y="0"/>
          <a:ext cx="0" cy="0"/>
          <a:chOff x="0" y="0"/>
          <a:chExt cx="0" cy="0"/>
        </a:xfrm>
      </p:grpSpPr>
      <p:sp>
        <p:nvSpPr>
          <p:cNvPr id="1048576" name="Shape 0"/>
          <p:cNvSpPr/>
          <p:nvPr/>
        </p:nvSpPr>
        <p:spPr>
          <a:xfrm>
            <a:off x="5166360" y="502920"/>
            <a:ext cx="1828800" cy="2286000"/>
          </a:xfrm>
          <a:prstGeom prst="roundRect">
            <a:avLst>
              <a:gd name="adj" fmla="val 4000"/>
            </a:avLst>
          </a:prstGeom>
          <a:solidFill>
            <a:srgbClr val="FFFFFF"/>
          </a:solidFill>
          <a:ln w="12700">
            <a:solidFill>
              <a:srgbClr val="FFFFFF"/>
            </a:solidFill>
            <a:prstDash val="solid"/>
          </a:ln>
        </p:spPr>
        <p:txBody>
          <a:bodyPr/>
          <a:p>
            <a:endParaRPr lang="en-ZA"/>
          </a:p>
        </p:txBody>
      </p:sp>
      <p:sp>
        <p:nvSpPr>
          <p:cNvPr id="1048577" name="Shape 1"/>
          <p:cNvSpPr/>
          <p:nvPr/>
        </p:nvSpPr>
        <p:spPr>
          <a:xfrm>
            <a:off x="5394960" y="777240"/>
            <a:ext cx="1371600" cy="54864"/>
          </a:xfrm>
          <a:prstGeom prst="rect"/>
          <a:solidFill>
            <a:srgbClr val="D9DCE6"/>
          </a:solidFill>
        </p:spPr>
        <p:txBody>
          <a:bodyPr/>
          <a:p>
            <a:endParaRPr lang="en-ZA"/>
          </a:p>
        </p:txBody>
      </p:sp>
      <p:sp>
        <p:nvSpPr>
          <p:cNvPr id="1048578" name="Shape 2"/>
          <p:cNvSpPr/>
          <p:nvPr/>
        </p:nvSpPr>
        <p:spPr>
          <a:xfrm>
            <a:off x="5394960" y="1097280"/>
            <a:ext cx="1371600" cy="54864"/>
          </a:xfrm>
          <a:prstGeom prst="rect"/>
          <a:solidFill>
            <a:srgbClr val="D9DCE6"/>
          </a:solidFill>
        </p:spPr>
        <p:txBody>
          <a:bodyPr/>
          <a:p>
            <a:endParaRPr lang="en-ZA"/>
          </a:p>
        </p:txBody>
      </p:sp>
      <p:sp>
        <p:nvSpPr>
          <p:cNvPr id="1048579" name="Shape 3"/>
          <p:cNvSpPr/>
          <p:nvPr/>
        </p:nvSpPr>
        <p:spPr>
          <a:xfrm>
            <a:off x="5394960" y="1417320"/>
            <a:ext cx="1371600" cy="54864"/>
          </a:xfrm>
          <a:prstGeom prst="rect"/>
          <a:solidFill>
            <a:srgbClr val="D9DCE6"/>
          </a:solidFill>
        </p:spPr>
        <p:txBody>
          <a:bodyPr/>
          <a:p>
            <a:endParaRPr lang="en-ZA"/>
          </a:p>
        </p:txBody>
      </p:sp>
      <p:sp>
        <p:nvSpPr>
          <p:cNvPr id="1048580" name="Shape 4"/>
          <p:cNvSpPr/>
          <p:nvPr/>
        </p:nvSpPr>
        <p:spPr>
          <a:xfrm>
            <a:off x="5394960" y="1737360"/>
            <a:ext cx="1371600" cy="54864"/>
          </a:xfrm>
          <a:prstGeom prst="rect"/>
          <a:solidFill>
            <a:srgbClr val="D9DCE6"/>
          </a:solidFill>
        </p:spPr>
        <p:txBody>
          <a:bodyPr/>
          <a:p>
            <a:endParaRPr lang="en-ZA"/>
          </a:p>
        </p:txBody>
      </p:sp>
      <p:sp>
        <p:nvSpPr>
          <p:cNvPr id="1048581" name="Shape 5"/>
          <p:cNvSpPr/>
          <p:nvPr/>
        </p:nvSpPr>
        <p:spPr>
          <a:xfrm>
            <a:off x="5394960" y="2057400"/>
            <a:ext cx="1371600" cy="54864"/>
          </a:xfrm>
          <a:prstGeom prst="rect"/>
          <a:solidFill>
            <a:srgbClr val="D9DCE6"/>
          </a:solidFill>
        </p:spPr>
        <p:txBody>
          <a:bodyPr/>
          <a:p>
            <a:endParaRPr lang="en-ZA"/>
          </a:p>
        </p:txBody>
      </p:sp>
      <p:sp>
        <p:nvSpPr>
          <p:cNvPr id="1048582" name="Text 6"/>
          <p:cNvSpPr/>
          <p:nvPr/>
        </p:nvSpPr>
        <p:spPr>
          <a:xfrm rot="-720000">
            <a:off x="5166360" y="502920"/>
            <a:ext cx="1828800" cy="2286000"/>
          </a:xfrm>
          <a:prstGeom prst="rect"/>
          <a:noFill/>
        </p:spPr>
        <p:txBody>
          <a:bodyPr anchor="ctr" rtlCol="0" wrap="square"/>
          <a:p>
            <a:pPr algn="ctr" indent="0" marL="0">
              <a:buNone/>
            </a:pPr>
            <a:r>
              <a:rPr b="1" dirty="0" sz="9600" lang="en-US">
                <a:solidFill>
                  <a:srgbClr val="C0392B"/>
                </a:solidFill>
                <a:latin typeface="Cambria" pitchFamily="34" charset="0"/>
                <a:ea typeface="Cambria" pitchFamily="34" charset="-122"/>
                <a:cs typeface="Cambria" pitchFamily="34" charset="-120"/>
              </a:rPr>
              <a:t>F</a:t>
            </a:r>
            <a:endParaRPr dirty="0" sz="9600" lang="en-US"/>
          </a:p>
        </p:txBody>
      </p:sp>
      <p:sp>
        <p:nvSpPr>
          <p:cNvPr id="1048583" name="Text 7"/>
          <p:cNvSpPr/>
          <p:nvPr/>
        </p:nvSpPr>
        <p:spPr>
          <a:xfrm>
            <a:off x="914400" y="3200400"/>
            <a:ext cx="10360152" cy="822960"/>
          </a:xfrm>
          <a:prstGeom prst="rect"/>
          <a:noFill/>
        </p:spPr>
        <p:txBody>
          <a:bodyPr anchor="ctr" bIns="0" lIns="0" rIns="0" rtlCol="0" tIns="0" wrap="square"/>
          <a:p>
            <a:pPr algn="ctr" indent="0" marL="0">
              <a:buNone/>
            </a:pPr>
            <a:r>
              <a:rPr b="1" dirty="0" sz="3400" lang="en-US">
                <a:solidFill>
                  <a:srgbClr val="FFFFFF"/>
                </a:solidFill>
                <a:latin typeface="Cambria" pitchFamily="34" charset="0"/>
                <a:ea typeface="Cambria" pitchFamily="34" charset="-122"/>
                <a:cs typeface="Cambria" pitchFamily="34" charset="-120"/>
              </a:rPr>
              <a:t>Thousands of learners fail the same exam every year —</a:t>
            </a:r>
            <a:endParaRPr dirty="0" sz="3400" lang="en-US"/>
          </a:p>
        </p:txBody>
      </p:sp>
      <p:sp>
        <p:nvSpPr>
          <p:cNvPr id="1048584" name="Text 8"/>
          <p:cNvSpPr/>
          <p:nvPr/>
        </p:nvSpPr>
        <p:spPr>
          <a:xfrm>
            <a:off x="914400" y="3886200"/>
            <a:ext cx="10360152" cy="822960"/>
          </a:xfrm>
          <a:prstGeom prst="rect"/>
          <a:noFill/>
        </p:spPr>
        <p:txBody>
          <a:bodyPr anchor="ctr" bIns="0" lIns="0" rIns="0" rtlCol="0" tIns="0" wrap="square"/>
          <a:p>
            <a:pPr algn="ctr" indent="0" marL="0">
              <a:buNone/>
            </a:pPr>
            <a:r>
              <a:rPr b="1" dirty="0" sz="3400" lang="en-US">
                <a:solidFill>
                  <a:srgbClr val="CADCFC"/>
                </a:solidFill>
                <a:latin typeface="Cambria" pitchFamily="34" charset="0"/>
                <a:ea typeface="Cambria" pitchFamily="34" charset="-122"/>
                <a:cs typeface="Cambria" pitchFamily="34" charset="-120"/>
              </a:rPr>
              <a:t>and still don't know why.</a:t>
            </a:r>
            <a:endParaRPr dirty="0" sz="3400" lang="en-US"/>
          </a:p>
        </p:txBody>
      </p:sp>
    </p:spTree>
  </p:cSld>
  <p:clrMapOvr>
    <a:masterClrMapping/>
  </p:clrMapOvr>
  <p:transition spd="med" advClick="1" advTm="9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35" name=""/>
        <p:cNvGrpSpPr/>
        <p:nvPr/>
      </p:nvGrpSpPr>
      <p:grpSpPr>
        <a:xfrm>
          <a:off x="0" y="0"/>
          <a:ext cx="0" cy="0"/>
          <a:chOff x="0" y="0"/>
          <a:chExt cx="0" cy="0"/>
        </a:xfrm>
      </p:grpSpPr>
      <p:sp>
        <p:nvSpPr>
          <p:cNvPr id="1048588" name="Text 0"/>
          <p:cNvSpPr/>
          <p:nvPr/>
        </p:nvSpPr>
        <p:spPr>
          <a:xfrm>
            <a:off x="548640" y="411480"/>
            <a:ext cx="11064240" cy="640080"/>
          </a:xfrm>
          <a:prstGeom prst="rect"/>
          <a:noFill/>
        </p:spPr>
        <p:txBody>
          <a:bodyPr anchor="ctr" bIns="0" lIns="0" rIns="0" rtlCol="0" tIns="0" wrap="square"/>
          <a:p>
            <a:pPr indent="0" marL="0">
              <a:buNone/>
            </a:pPr>
            <a:r>
              <a:rPr b="1" dirty="0" sz="3000" lang="en-US">
                <a:solidFill>
                  <a:srgbClr val="1A1A2E"/>
                </a:solidFill>
                <a:latin typeface="Cambria" pitchFamily="34" charset="0"/>
                <a:ea typeface="Cambria" pitchFamily="34" charset="-122"/>
                <a:cs typeface="Cambria" pitchFamily="34" charset="-120"/>
              </a:rPr>
              <a:t>Two people. Two blind spots.</a:t>
            </a:r>
            <a:endParaRPr dirty="0" sz="3000" lang="en-US"/>
          </a:p>
        </p:txBody>
      </p:sp>
      <p:sp>
        <p:nvSpPr>
          <p:cNvPr id="1048589" name="Shape 1"/>
          <p:cNvSpPr/>
          <p:nvPr/>
        </p:nvSpPr>
        <p:spPr>
          <a:xfrm>
            <a:off x="1463040" y="1737360"/>
            <a:ext cx="822960" cy="822960"/>
          </a:xfrm>
          <a:prstGeom prst="ellipse"/>
          <a:solidFill>
            <a:srgbClr val="CADCFC"/>
          </a:solidFill>
        </p:spPr>
        <p:txBody>
          <a:bodyPr/>
          <a:p>
            <a:endParaRPr lang="en-ZA"/>
          </a:p>
        </p:txBody>
      </p:sp>
      <p:sp>
        <p:nvSpPr>
          <p:cNvPr id="1048590" name="Text 2"/>
          <p:cNvSpPr/>
          <p:nvPr/>
        </p:nvSpPr>
        <p:spPr>
          <a:xfrm>
            <a:off x="1463040" y="1737360"/>
            <a:ext cx="822960" cy="822960"/>
          </a:xfrm>
          <a:prstGeom prst="rect"/>
          <a:noFill/>
        </p:spPr>
        <p:txBody>
          <a:bodyPr anchor="ctr" rtlCol="0" wrap="square"/>
          <a:p>
            <a:pPr algn="ctr" indent="0" marL="0">
              <a:buNone/>
            </a:pPr>
            <a:r>
              <a:rPr dirty="0" sz="3200" lang="en-US">
                <a:solidFill>
                  <a:srgbClr val="000000"/>
                </a:solidFill>
              </a:rPr>
              <a:t>🎓</a:t>
            </a:r>
            <a:endParaRPr dirty="0" sz="3200" lang="en-US"/>
          </a:p>
        </p:txBody>
      </p:sp>
      <p:sp>
        <p:nvSpPr>
          <p:cNvPr id="1048591" name="Text 3"/>
          <p:cNvSpPr/>
          <p:nvPr/>
        </p:nvSpPr>
        <p:spPr>
          <a:xfrm>
            <a:off x="822960" y="2834640"/>
            <a:ext cx="2103120" cy="1737360"/>
          </a:xfrm>
          <a:prstGeom prst="rect"/>
          <a:noFill/>
        </p:spPr>
        <p:txBody>
          <a:bodyPr anchor="ctr" bIns="0" lIns="0" rIns="0" rtlCol="0" tIns="0" wrap="square"/>
          <a:p>
            <a:pPr algn="ctr" indent="0" marL="0">
              <a:buNone/>
            </a:pPr>
            <a:r>
              <a:rPr b="1" dirty="0" sz="1900" i="1" lang="en-US">
                <a:solidFill>
                  <a:srgbClr val="1E2761"/>
                </a:solidFill>
                <a:latin typeface="Cambria" pitchFamily="34" charset="0"/>
                <a:ea typeface="Cambria" pitchFamily="34" charset="-122"/>
                <a:cs typeface="Cambria" pitchFamily="34" charset="-120"/>
              </a:rPr>
              <a:t>“I study everything.</a:t>
            </a:r>
            <a:endParaRPr dirty="0" sz="1900" lang="en-US"/>
          </a:p>
          <a:p>
            <a:pPr algn="ctr" indent="0" marL="0">
              <a:buNone/>
            </a:pPr>
            <a:r>
              <a:rPr b="1" dirty="0" sz="1900" i="1" lang="en-US">
                <a:solidFill>
                  <a:srgbClr val="1E2761"/>
                </a:solidFill>
                <a:latin typeface="Cambria" pitchFamily="34" charset="0"/>
                <a:ea typeface="Cambria" pitchFamily="34" charset="-122"/>
                <a:cs typeface="Cambria" pitchFamily="34" charset="-120"/>
              </a:rPr>
              <a:t>I still don't know</a:t>
            </a:r>
            <a:endParaRPr dirty="0" sz="1900" lang="en-US"/>
          </a:p>
          <a:p>
            <a:pPr algn="ctr" indent="0" marL="0">
              <a:buNone/>
            </a:pPr>
            <a:r>
              <a:rPr b="1" dirty="0" sz="1900" i="1" lang="en-US">
                <a:solidFill>
                  <a:srgbClr val="1E2761"/>
                </a:solidFill>
                <a:latin typeface="Cambria" pitchFamily="34" charset="0"/>
                <a:ea typeface="Cambria" pitchFamily="34" charset="-122"/>
                <a:cs typeface="Cambria" pitchFamily="34" charset="-120"/>
              </a:rPr>
              <a:t>what I'm missing.”</a:t>
            </a:r>
            <a:endParaRPr dirty="0" sz="1900" lang="en-US"/>
          </a:p>
        </p:txBody>
      </p:sp>
      <p:sp>
        <p:nvSpPr>
          <p:cNvPr id="1048592" name="Text 4"/>
          <p:cNvSpPr/>
          <p:nvPr/>
        </p:nvSpPr>
        <p:spPr>
          <a:xfrm>
            <a:off x="822960" y="4709160"/>
            <a:ext cx="2103120" cy="365760"/>
          </a:xfrm>
          <a:prstGeom prst="rect"/>
          <a:noFill/>
        </p:spPr>
        <p:txBody>
          <a:bodyPr anchor="ctr" rtlCol="0" wrap="square"/>
          <a:p>
            <a:pPr algn="ctr" indent="0" marL="0">
              <a:buNone/>
            </a:pPr>
            <a:r>
              <a:rPr b="1" dirty="0" sz="1200" kern="0" lang="en-US" spc="200">
                <a:solidFill>
                  <a:srgbClr val="6B7280"/>
                </a:solidFill>
                <a:latin typeface="Calibri" pitchFamily="34" charset="0"/>
                <a:ea typeface="Calibri" pitchFamily="34" charset="-122"/>
                <a:cs typeface="Calibri" pitchFamily="34" charset="-120"/>
              </a:rPr>
              <a:t>THE LEARNER</a:t>
            </a:r>
            <a:endParaRPr dirty="0" sz="1200" lang="en-US"/>
          </a:p>
        </p:txBody>
      </p:sp>
      <p:sp>
        <p:nvSpPr>
          <p:cNvPr id="1048593" name="Shape 5"/>
          <p:cNvSpPr/>
          <p:nvPr/>
        </p:nvSpPr>
        <p:spPr>
          <a:xfrm>
            <a:off x="6089904" y="1737360"/>
            <a:ext cx="0" cy="3383280"/>
          </a:xfrm>
          <a:prstGeom prst="line"/>
          <a:noFill/>
          <a:ln w="19050">
            <a:solidFill>
              <a:srgbClr val="D9DCE6"/>
            </a:solidFill>
            <a:prstDash val="solid"/>
          </a:ln>
        </p:spPr>
        <p:txBody>
          <a:bodyPr/>
          <a:p>
            <a:endParaRPr lang="en-ZA"/>
          </a:p>
        </p:txBody>
      </p:sp>
      <p:sp>
        <p:nvSpPr>
          <p:cNvPr id="1048594" name="Shape 6"/>
          <p:cNvSpPr/>
          <p:nvPr/>
        </p:nvSpPr>
        <p:spPr>
          <a:xfrm>
            <a:off x="9875520" y="1737360"/>
            <a:ext cx="822960" cy="822960"/>
          </a:xfrm>
          <a:prstGeom prst="ellipse"/>
          <a:solidFill>
            <a:srgbClr val="CADCFC"/>
          </a:solidFill>
        </p:spPr>
        <p:txBody>
          <a:bodyPr/>
          <a:p>
            <a:endParaRPr lang="en-ZA"/>
          </a:p>
        </p:txBody>
      </p:sp>
      <p:sp>
        <p:nvSpPr>
          <p:cNvPr id="1048595" name="Text 7"/>
          <p:cNvSpPr/>
          <p:nvPr/>
        </p:nvSpPr>
        <p:spPr>
          <a:xfrm>
            <a:off x="9875520" y="1737360"/>
            <a:ext cx="822960" cy="822960"/>
          </a:xfrm>
          <a:prstGeom prst="rect"/>
          <a:noFill/>
        </p:spPr>
        <p:txBody>
          <a:bodyPr anchor="ctr" rtlCol="0" wrap="square"/>
          <a:p>
            <a:pPr algn="ctr" indent="0" marL="0">
              <a:buNone/>
            </a:pPr>
            <a:r>
              <a:rPr dirty="0" sz="3200" lang="en-US">
                <a:solidFill>
                  <a:srgbClr val="000000"/>
                </a:solidFill>
              </a:rPr>
              <a:t>🧑‍🏫</a:t>
            </a:r>
            <a:endParaRPr dirty="0" sz="3200" lang="en-US"/>
          </a:p>
        </p:txBody>
      </p:sp>
      <p:sp>
        <p:nvSpPr>
          <p:cNvPr id="1048596" name="Text 8"/>
          <p:cNvSpPr/>
          <p:nvPr/>
        </p:nvSpPr>
        <p:spPr>
          <a:xfrm>
            <a:off x="9235440" y="2834640"/>
            <a:ext cx="2103120" cy="1737360"/>
          </a:xfrm>
          <a:prstGeom prst="rect"/>
          <a:noFill/>
        </p:spPr>
        <p:txBody>
          <a:bodyPr anchor="ctr" bIns="0" lIns="0" rIns="0" rtlCol="0" tIns="0" wrap="square"/>
          <a:p>
            <a:pPr algn="ctr" indent="0" marL="0">
              <a:buNone/>
            </a:pPr>
            <a:r>
              <a:rPr b="1" dirty="0" sz="1900" i="1" lang="en-US">
                <a:solidFill>
                  <a:srgbClr val="1E2761"/>
                </a:solidFill>
                <a:latin typeface="Cambria" pitchFamily="34" charset="0"/>
                <a:ea typeface="Cambria" pitchFamily="34" charset="-122"/>
                <a:cs typeface="Cambria" pitchFamily="34" charset="-120"/>
              </a:rPr>
              <a:t>“I can see who's</a:t>
            </a:r>
            <a:endParaRPr dirty="0" sz="1900" lang="en-US"/>
          </a:p>
          <a:p>
            <a:pPr algn="ctr" indent="0" marL="0">
              <a:buNone/>
            </a:pPr>
            <a:r>
              <a:rPr b="1" dirty="0" sz="1900" i="1" lang="en-US">
                <a:solidFill>
                  <a:srgbClr val="1E2761"/>
                </a:solidFill>
                <a:latin typeface="Cambria" pitchFamily="34" charset="0"/>
                <a:ea typeface="Cambria" pitchFamily="34" charset="-122"/>
                <a:cs typeface="Cambria" pitchFamily="34" charset="-120"/>
              </a:rPr>
              <a:t>struggling. I can't see</a:t>
            </a:r>
            <a:endParaRPr dirty="0" sz="1900" lang="en-US"/>
          </a:p>
          <a:p>
            <a:pPr algn="ctr" indent="0" marL="0">
              <a:buNone/>
            </a:pPr>
            <a:r>
              <a:rPr b="1" dirty="0" sz="1900" i="1" lang="en-US">
                <a:solidFill>
                  <a:srgbClr val="1E2761"/>
                </a:solidFill>
                <a:latin typeface="Cambria" pitchFamily="34" charset="0"/>
                <a:ea typeface="Cambria" pitchFamily="34" charset="-122"/>
                <a:cs typeface="Cambria" pitchFamily="34" charset="-120"/>
              </a:rPr>
              <a:t>exactly why.”</a:t>
            </a:r>
            <a:endParaRPr dirty="0" sz="1900" lang="en-US"/>
          </a:p>
        </p:txBody>
      </p:sp>
      <p:sp>
        <p:nvSpPr>
          <p:cNvPr id="1048597" name="Text 9"/>
          <p:cNvSpPr/>
          <p:nvPr/>
        </p:nvSpPr>
        <p:spPr>
          <a:xfrm>
            <a:off x="9235440" y="4709160"/>
            <a:ext cx="2103120" cy="365760"/>
          </a:xfrm>
          <a:prstGeom prst="rect"/>
          <a:noFill/>
        </p:spPr>
        <p:txBody>
          <a:bodyPr anchor="ctr" rtlCol="0" wrap="square"/>
          <a:p>
            <a:pPr algn="ctr" indent="0" marL="0">
              <a:buNone/>
            </a:pPr>
            <a:r>
              <a:rPr b="1" dirty="0" sz="1200" kern="0" lang="en-US" spc="200">
                <a:solidFill>
                  <a:srgbClr val="6B7280"/>
                </a:solidFill>
                <a:latin typeface="Calibri" pitchFamily="34" charset="0"/>
                <a:ea typeface="Calibri" pitchFamily="34" charset="-122"/>
                <a:cs typeface="Calibri" pitchFamily="34" charset="-120"/>
              </a:rPr>
              <a:t>THE TEACHER</a:t>
            </a:r>
            <a:endParaRPr dirty="0" sz="1200" lang="en-US"/>
          </a:p>
        </p:txBody>
      </p:sp>
    </p:spTree>
  </p:cSld>
  <p:clrMapOvr>
    <a:masterClrMapping/>
  </p:clrMapOvr>
  <p:transition spd="med" advClick="1" advTm="110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38" name=""/>
        <p:cNvGrpSpPr/>
        <p:nvPr/>
      </p:nvGrpSpPr>
      <p:grpSpPr>
        <a:xfrm>
          <a:off x="0" y="0"/>
          <a:ext cx="0" cy="0"/>
          <a:chOff x="0" y="0"/>
          <a:chExt cx="0" cy="0"/>
        </a:xfrm>
      </p:grpSpPr>
      <p:sp>
        <p:nvSpPr>
          <p:cNvPr id="1048601" name="Text 0"/>
          <p:cNvSpPr/>
          <p:nvPr/>
        </p:nvSpPr>
        <p:spPr>
          <a:xfrm>
            <a:off x="548640" y="411480"/>
            <a:ext cx="11064240" cy="640080"/>
          </a:xfrm>
          <a:prstGeom prst="rect"/>
          <a:noFill/>
        </p:spPr>
        <p:txBody>
          <a:bodyPr anchor="ctr" bIns="0" lIns="0" rIns="0" rtlCol="0" tIns="0" wrap="square"/>
          <a:p>
            <a:pPr indent="0" marL="0">
              <a:buNone/>
            </a:pPr>
            <a:r>
              <a:rPr b="1" dirty="0" sz="3000" lang="en-US">
                <a:solidFill>
                  <a:srgbClr val="1A1A2E"/>
                </a:solidFill>
                <a:latin typeface="Cambria" pitchFamily="34" charset="0"/>
                <a:ea typeface="Cambria" pitchFamily="34" charset="-122"/>
                <a:cs typeface="Cambria" pitchFamily="34" charset="-120"/>
              </a:rPr>
              <a:t>The cost of the gap</a:t>
            </a:r>
            <a:endParaRPr dirty="0" sz="3000" lang="en-US"/>
          </a:p>
        </p:txBody>
      </p:sp>
      <p:sp>
        <p:nvSpPr>
          <p:cNvPr id="1048602" name="Text 1"/>
          <p:cNvSpPr/>
          <p:nvPr/>
        </p:nvSpPr>
        <p:spPr>
          <a:xfrm>
            <a:off x="548640" y="2103120"/>
            <a:ext cx="2766060" cy="914400"/>
          </a:xfrm>
          <a:prstGeom prst="rect"/>
          <a:noFill/>
        </p:spPr>
        <p:txBody>
          <a:bodyPr anchor="ctr" rtlCol="0" wrap="square"/>
          <a:p>
            <a:pPr algn="ctr" indent="0" marL="0">
              <a:buNone/>
            </a:pPr>
            <a:r>
              <a:rPr dirty="0" sz="4000" lang="en-US">
                <a:solidFill>
                  <a:srgbClr val="000000"/>
                </a:solidFill>
              </a:rPr>
              <a:t>📚</a:t>
            </a:r>
            <a:endParaRPr dirty="0" sz="4000" lang="en-US"/>
          </a:p>
        </p:txBody>
      </p:sp>
      <p:sp>
        <p:nvSpPr>
          <p:cNvPr id="1048603" name="Text 2"/>
          <p:cNvSpPr/>
          <p:nvPr/>
        </p:nvSpPr>
        <p:spPr>
          <a:xfrm>
            <a:off x="685800" y="3108960"/>
            <a:ext cx="2491740" cy="1005840"/>
          </a:xfrm>
          <a:prstGeom prst="rect"/>
          <a:noFill/>
        </p:spPr>
        <p:txBody>
          <a:bodyPr anchor="ctr" bIns="0" lIns="0" rIns="0" rtlCol="0" tIns="0" wrap="square"/>
          <a:p>
            <a:pPr algn="ctr" indent="0" marL="0">
              <a:buNone/>
            </a:pPr>
            <a:r>
              <a:rPr b="1" dirty="0" sz="1500" lang="en-US">
                <a:solidFill>
                  <a:srgbClr val="1A1A2E"/>
                </a:solidFill>
                <a:latin typeface="Calibri" pitchFamily="34" charset="0"/>
                <a:ea typeface="Calibri" pitchFamily="34" charset="-122"/>
                <a:cs typeface="Calibri" pitchFamily="34" charset="-120"/>
              </a:rPr>
              <a:t>Learners study</a:t>
            </a:r>
            <a:endParaRPr dirty="0" sz="1500" lang="en-US"/>
          </a:p>
          <a:p>
            <a:pPr algn="ctr" indent="0" marL="0">
              <a:buNone/>
            </a:pPr>
            <a:r>
              <a:rPr b="1" dirty="0" sz="1500" lang="en-US">
                <a:solidFill>
                  <a:srgbClr val="1A1A2E"/>
                </a:solidFill>
                <a:latin typeface="Calibri" pitchFamily="34" charset="0"/>
                <a:ea typeface="Calibri" pitchFamily="34" charset="-122"/>
                <a:cs typeface="Calibri" pitchFamily="34" charset="-120"/>
              </a:rPr>
              <a:t>the wrong topics</a:t>
            </a:r>
            <a:endParaRPr dirty="0" sz="1500" lang="en-US"/>
          </a:p>
        </p:txBody>
      </p:sp>
      <p:sp>
        <p:nvSpPr>
          <p:cNvPr id="1048604" name="Text 3"/>
          <p:cNvSpPr/>
          <p:nvPr/>
        </p:nvSpPr>
        <p:spPr>
          <a:xfrm>
            <a:off x="3314700" y="2103120"/>
            <a:ext cx="2766060" cy="914400"/>
          </a:xfrm>
          <a:prstGeom prst="rect"/>
          <a:noFill/>
        </p:spPr>
        <p:txBody>
          <a:bodyPr anchor="ctr" rtlCol="0" wrap="square"/>
          <a:p>
            <a:pPr algn="ctr" indent="0" marL="0">
              <a:buNone/>
            </a:pPr>
            <a:r>
              <a:rPr dirty="0" sz="4000" lang="en-US">
                <a:solidFill>
                  <a:srgbClr val="000000"/>
                </a:solidFill>
              </a:rPr>
              <a:t>⏱️</a:t>
            </a:r>
            <a:endParaRPr dirty="0" sz="4000" lang="en-US"/>
          </a:p>
        </p:txBody>
      </p:sp>
      <p:sp>
        <p:nvSpPr>
          <p:cNvPr id="1048605" name="Text 4"/>
          <p:cNvSpPr/>
          <p:nvPr/>
        </p:nvSpPr>
        <p:spPr>
          <a:xfrm>
            <a:off x="3451860" y="3108960"/>
            <a:ext cx="2491740" cy="1005840"/>
          </a:xfrm>
          <a:prstGeom prst="rect"/>
          <a:noFill/>
        </p:spPr>
        <p:txBody>
          <a:bodyPr anchor="ctr" bIns="0" lIns="0" rIns="0" rtlCol="0" tIns="0" wrap="square"/>
          <a:p>
            <a:pPr algn="ctr" indent="0" marL="0">
              <a:buNone/>
            </a:pPr>
            <a:r>
              <a:rPr b="1" dirty="0" sz="1500" lang="en-US">
                <a:solidFill>
                  <a:srgbClr val="1A1A2E"/>
                </a:solidFill>
                <a:latin typeface="Calibri" pitchFamily="34" charset="0"/>
                <a:ea typeface="Calibri" pitchFamily="34" charset="-122"/>
                <a:cs typeface="Calibri" pitchFamily="34" charset="-120"/>
              </a:rPr>
              <a:t>Teachers lose hours</a:t>
            </a:r>
            <a:endParaRPr dirty="0" sz="1500" lang="en-US"/>
          </a:p>
          <a:p>
            <a:pPr algn="ctr" indent="0" marL="0">
              <a:buNone/>
            </a:pPr>
            <a:r>
              <a:rPr b="1" dirty="0" sz="1500" lang="en-US">
                <a:solidFill>
                  <a:srgbClr val="1A1A2E"/>
                </a:solidFill>
                <a:latin typeface="Calibri" pitchFamily="34" charset="0"/>
                <a:ea typeface="Calibri" pitchFamily="34" charset="-122"/>
                <a:cs typeface="Calibri" pitchFamily="34" charset="-120"/>
              </a:rPr>
              <a:t>diagnosing gaps</a:t>
            </a:r>
            <a:endParaRPr dirty="0" sz="1500" lang="en-US"/>
          </a:p>
        </p:txBody>
      </p:sp>
      <p:sp>
        <p:nvSpPr>
          <p:cNvPr id="1048606" name="Shape 5"/>
          <p:cNvSpPr/>
          <p:nvPr/>
        </p:nvSpPr>
        <p:spPr>
          <a:xfrm>
            <a:off x="3314700" y="2103120"/>
            <a:ext cx="0" cy="2011680"/>
          </a:xfrm>
          <a:prstGeom prst="line"/>
          <a:noFill/>
          <a:ln w="12700">
            <a:solidFill>
              <a:srgbClr val="E5E7EB"/>
            </a:solidFill>
            <a:prstDash val="solid"/>
          </a:ln>
        </p:spPr>
        <p:txBody>
          <a:bodyPr/>
          <a:p>
            <a:endParaRPr lang="en-ZA"/>
          </a:p>
        </p:txBody>
      </p:sp>
      <p:sp>
        <p:nvSpPr>
          <p:cNvPr id="1048607" name="Text 6"/>
          <p:cNvSpPr/>
          <p:nvPr/>
        </p:nvSpPr>
        <p:spPr>
          <a:xfrm>
            <a:off x="6080760" y="2103120"/>
            <a:ext cx="2766060" cy="914400"/>
          </a:xfrm>
          <a:prstGeom prst="rect"/>
          <a:noFill/>
        </p:spPr>
        <p:txBody>
          <a:bodyPr anchor="ctr" rtlCol="0" wrap="square"/>
          <a:p>
            <a:pPr algn="ctr" indent="0" marL="0">
              <a:buNone/>
            </a:pPr>
            <a:r>
              <a:rPr dirty="0" sz="4000" lang="en-US">
                <a:solidFill>
                  <a:srgbClr val="000000"/>
                </a:solidFill>
              </a:rPr>
              <a:t>🏫</a:t>
            </a:r>
            <a:endParaRPr dirty="0" sz="4000" lang="en-US"/>
          </a:p>
        </p:txBody>
      </p:sp>
      <p:sp>
        <p:nvSpPr>
          <p:cNvPr id="1048608" name="Text 7"/>
          <p:cNvSpPr/>
          <p:nvPr/>
        </p:nvSpPr>
        <p:spPr>
          <a:xfrm>
            <a:off x="6217920" y="3108960"/>
            <a:ext cx="2491740" cy="1005840"/>
          </a:xfrm>
          <a:prstGeom prst="rect"/>
          <a:noFill/>
        </p:spPr>
        <p:txBody>
          <a:bodyPr anchor="ctr" bIns="0" lIns="0" rIns="0" rtlCol="0" tIns="0" wrap="square"/>
          <a:p>
            <a:pPr algn="ctr" indent="0" marL="0">
              <a:buNone/>
            </a:pPr>
            <a:r>
              <a:rPr b="1" dirty="0" sz="1500" lang="en-US">
                <a:solidFill>
                  <a:srgbClr val="1A1A2E"/>
                </a:solidFill>
                <a:latin typeface="Calibri" pitchFamily="34" charset="0"/>
                <a:ea typeface="Calibri" pitchFamily="34" charset="-122"/>
                <a:cs typeface="Calibri" pitchFamily="34" charset="-120"/>
              </a:rPr>
              <a:t>Schools lack</a:t>
            </a:r>
            <a:endParaRPr dirty="0" sz="1500" lang="en-US"/>
          </a:p>
          <a:p>
            <a:pPr algn="ctr" indent="0" marL="0">
              <a:buNone/>
            </a:pPr>
            <a:r>
              <a:rPr b="1" dirty="0" sz="1500" lang="en-US">
                <a:solidFill>
                  <a:srgbClr val="1A1A2E"/>
                </a:solidFill>
                <a:latin typeface="Calibri" pitchFamily="34" charset="0"/>
                <a:ea typeface="Calibri" pitchFamily="34" charset="-122"/>
                <a:cs typeface="Calibri" pitchFamily="34" charset="-120"/>
              </a:rPr>
              <a:t>personalised tools</a:t>
            </a:r>
            <a:endParaRPr dirty="0" sz="1500" lang="en-US"/>
          </a:p>
        </p:txBody>
      </p:sp>
      <p:sp>
        <p:nvSpPr>
          <p:cNvPr id="1048609" name="Shape 8"/>
          <p:cNvSpPr/>
          <p:nvPr/>
        </p:nvSpPr>
        <p:spPr>
          <a:xfrm>
            <a:off x="6080760" y="2103120"/>
            <a:ext cx="0" cy="2011680"/>
          </a:xfrm>
          <a:prstGeom prst="line"/>
          <a:noFill/>
          <a:ln w="12700">
            <a:solidFill>
              <a:srgbClr val="E5E7EB"/>
            </a:solidFill>
            <a:prstDash val="solid"/>
          </a:ln>
        </p:spPr>
        <p:txBody>
          <a:bodyPr/>
          <a:p>
            <a:endParaRPr lang="en-ZA"/>
          </a:p>
        </p:txBody>
      </p:sp>
      <p:sp>
        <p:nvSpPr>
          <p:cNvPr id="1048610" name="Text 9"/>
          <p:cNvSpPr/>
          <p:nvPr/>
        </p:nvSpPr>
        <p:spPr>
          <a:xfrm>
            <a:off x="8846820" y="2103120"/>
            <a:ext cx="2766060" cy="914400"/>
          </a:xfrm>
          <a:prstGeom prst="rect"/>
          <a:noFill/>
        </p:spPr>
        <p:txBody>
          <a:bodyPr anchor="ctr" rtlCol="0" wrap="square"/>
          <a:p>
            <a:pPr algn="ctr" indent="0" marL="0">
              <a:buNone/>
            </a:pPr>
            <a:r>
              <a:rPr dirty="0" sz="4000" lang="en-US">
                <a:solidFill>
                  <a:srgbClr val="000000"/>
                </a:solidFill>
              </a:rPr>
              <a:t>⌛</a:t>
            </a:r>
            <a:endParaRPr dirty="0" sz="4000" lang="en-US"/>
          </a:p>
        </p:txBody>
      </p:sp>
      <p:sp>
        <p:nvSpPr>
          <p:cNvPr id="1048611" name="Text 10"/>
          <p:cNvSpPr/>
          <p:nvPr/>
        </p:nvSpPr>
        <p:spPr>
          <a:xfrm>
            <a:off x="8983980" y="3108960"/>
            <a:ext cx="2491740" cy="1005840"/>
          </a:xfrm>
          <a:prstGeom prst="rect"/>
          <a:noFill/>
        </p:spPr>
        <p:txBody>
          <a:bodyPr anchor="ctr" bIns="0" lIns="0" rIns="0" rtlCol="0" tIns="0" wrap="square"/>
          <a:p>
            <a:pPr algn="ctr" indent="0" marL="0">
              <a:buNone/>
            </a:pPr>
            <a:r>
              <a:rPr b="1" dirty="0" sz="1500" lang="en-US">
                <a:solidFill>
                  <a:srgbClr val="1A1A2E"/>
                </a:solidFill>
                <a:latin typeface="Calibri" pitchFamily="34" charset="0"/>
                <a:ea typeface="Calibri" pitchFamily="34" charset="-122"/>
                <a:cs typeface="Calibri" pitchFamily="34" charset="-120"/>
              </a:rPr>
              <a:t>Learning time</a:t>
            </a:r>
            <a:endParaRPr dirty="0" sz="1500" lang="en-US"/>
          </a:p>
          <a:p>
            <a:pPr algn="ctr" indent="0" marL="0">
              <a:buNone/>
            </a:pPr>
            <a:r>
              <a:rPr b="1" dirty="0" sz="1500" lang="en-US">
                <a:solidFill>
                  <a:srgbClr val="1A1A2E"/>
                </a:solidFill>
                <a:latin typeface="Calibri" pitchFamily="34" charset="0"/>
                <a:ea typeface="Calibri" pitchFamily="34" charset="-122"/>
                <a:cs typeface="Calibri" pitchFamily="34" charset="-120"/>
              </a:rPr>
              <a:t>is lost — for good</a:t>
            </a:r>
            <a:endParaRPr dirty="0" sz="1500" lang="en-US"/>
          </a:p>
        </p:txBody>
      </p:sp>
      <p:sp>
        <p:nvSpPr>
          <p:cNvPr id="1048612" name="Shape 11"/>
          <p:cNvSpPr/>
          <p:nvPr/>
        </p:nvSpPr>
        <p:spPr>
          <a:xfrm>
            <a:off x="8846820" y="2103120"/>
            <a:ext cx="0" cy="2011680"/>
          </a:xfrm>
          <a:prstGeom prst="line"/>
          <a:noFill/>
          <a:ln w="12700">
            <a:solidFill>
              <a:srgbClr val="E5E7EB"/>
            </a:solidFill>
            <a:prstDash val="solid"/>
          </a:ln>
        </p:spPr>
        <p:txBody>
          <a:bodyPr/>
          <a:p>
            <a:endParaRPr lang="en-ZA"/>
          </a:p>
        </p:txBody>
      </p:sp>
    </p:spTree>
  </p:cSld>
  <p:clrMapOvr>
    <a:masterClrMapping/>
  </p:clrMapOvr>
  <p:transition spd="med" advClick="1" advTm="85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B2E7E"/>
        </a:solidFill>
        <a:effectLst/>
      </p:bgPr>
    </p:bg>
    <p:spTree>
      <p:nvGrpSpPr>
        <p:cNvPr id="41" name=""/>
        <p:cNvGrpSpPr/>
        <p:nvPr/>
      </p:nvGrpSpPr>
      <p:grpSpPr>
        <a:xfrm>
          <a:off x="0" y="0"/>
          <a:ext cx="0" cy="0"/>
          <a:chOff x="0" y="0"/>
          <a:chExt cx="0" cy="0"/>
        </a:xfrm>
      </p:grpSpPr>
      <p:pic>
        <p:nvPicPr>
          <p:cNvPr id="2097152" name="Image 0" descr="/home/claude/imgs/company_logo.jpeg"/>
          <p:cNvPicPr>
            <a:picLocks noChangeAspect="1"/>
          </p:cNvPicPr>
          <p:nvPr/>
        </p:nvPicPr>
        <p:blipFill>
          <a:blip xmlns:r="http://schemas.openxmlformats.org/officeDocument/2006/relationships" r:embed="rId1"/>
          <a:stretch>
            <a:fillRect/>
          </a:stretch>
        </p:blipFill>
        <p:spPr>
          <a:xfrm>
            <a:off x="640080" y="548640"/>
            <a:ext cx="1371600" cy="857250"/>
          </a:xfrm>
          <a:prstGeom prst="rect"/>
        </p:spPr>
      </p:pic>
      <p:sp>
        <p:nvSpPr>
          <p:cNvPr id="1048616" name="Text 0"/>
          <p:cNvSpPr/>
          <p:nvPr/>
        </p:nvSpPr>
        <p:spPr>
          <a:xfrm>
            <a:off x="640080" y="2377440"/>
            <a:ext cx="7315200" cy="914400"/>
          </a:xfrm>
          <a:prstGeom prst="rect"/>
          <a:noFill/>
        </p:spPr>
        <p:txBody>
          <a:bodyPr anchor="ctr" bIns="0" lIns="0" rIns="0" rtlCol="0" tIns="0" wrap="square"/>
          <a:p>
            <a:pPr indent="0" marL="0">
              <a:buNone/>
            </a:pPr>
            <a:r>
              <a:rPr b="1" dirty="0" sz="4800" lang="en-US">
                <a:solidFill>
                  <a:srgbClr val="FFFFFF"/>
                </a:solidFill>
                <a:latin typeface="Cambria" pitchFamily="34" charset="0"/>
                <a:ea typeface="Cambria" pitchFamily="34" charset="-122"/>
                <a:cs typeface="Cambria" pitchFamily="34" charset="-120"/>
              </a:rPr>
              <a:t>GapWise</a:t>
            </a:r>
            <a:endParaRPr dirty="0" sz="4800" lang="en-US"/>
          </a:p>
        </p:txBody>
      </p:sp>
      <p:sp>
        <p:nvSpPr>
          <p:cNvPr id="1048617" name="Text 1"/>
          <p:cNvSpPr/>
          <p:nvPr/>
        </p:nvSpPr>
        <p:spPr>
          <a:xfrm>
            <a:off x="640080" y="3246120"/>
            <a:ext cx="6858000" cy="640080"/>
          </a:xfrm>
          <a:prstGeom prst="rect"/>
          <a:noFill/>
        </p:spPr>
        <p:txBody>
          <a:bodyPr anchor="ctr" bIns="0" lIns="0" rIns="0" rtlCol="0" tIns="0" wrap="square"/>
          <a:p>
            <a:pPr indent="0" marL="0">
              <a:buNone/>
            </a:pPr>
            <a:r>
              <a:rPr dirty="0" sz="1800" lang="en-US">
                <a:solidFill>
                  <a:srgbClr val="CADCFC"/>
                </a:solidFill>
                <a:latin typeface="Calibri" pitchFamily="34" charset="0"/>
                <a:ea typeface="Calibri" pitchFamily="34" charset="-122"/>
                <a:cs typeface="Calibri" pitchFamily="34" charset="-120"/>
              </a:rPr>
              <a:t>Closing Learning Gaps Through Intelligent Diagnostics</a:t>
            </a:r>
            <a:endParaRPr dirty="0" sz="1800" lang="en-US"/>
          </a:p>
        </p:txBody>
      </p:sp>
      <p:pic>
        <p:nvPicPr>
          <p:cNvPr id="2097153" name="Image 1" descr="/home/claude/imgs/landing_page.png"/>
          <p:cNvPicPr>
            <a:picLocks noChangeAspect="1"/>
          </p:cNvPicPr>
          <p:nvPr/>
        </p:nvPicPr>
        <p:blipFill>
          <a:blip xmlns:r="http://schemas.openxmlformats.org/officeDocument/2006/relationships" r:embed="rId2"/>
          <a:stretch>
            <a:fillRect/>
          </a:stretch>
        </p:blipFill>
        <p:spPr>
          <a:xfrm>
            <a:off x="6568135" y="2011814"/>
            <a:ext cx="5120640" cy="2834372"/>
          </a:xfrm>
          <a:prstGeom prst="rect"/>
          <a:effectLst>
            <a:outerShdw algn="bl" blurRad="152400" dir="5400000" dist="50800" rotWithShape="0">
              <a:srgbClr val="000000">
                <a:alpha val="35000"/>
              </a:srgbClr>
            </a:outerShdw>
          </a:effectLst>
        </p:spPr>
      </p:pic>
      <p:sp>
        <p:nvSpPr>
          <p:cNvPr id="1048618" name="Shape 2"/>
          <p:cNvSpPr/>
          <p:nvPr/>
        </p:nvSpPr>
        <p:spPr>
          <a:xfrm>
            <a:off x="8513978" y="2635376"/>
            <a:ext cx="127102" cy="2439544"/>
          </a:xfrm>
          <a:prstGeom prst="line"/>
          <a:noFill/>
          <a:ln w="12700">
            <a:solidFill>
              <a:srgbClr val="CADCFC"/>
            </a:solidFill>
            <a:prstDash val="solid"/>
          </a:ln>
        </p:spPr>
        <p:txBody>
          <a:bodyPr/>
          <a:p>
            <a:endParaRPr lang="en-ZA"/>
          </a:p>
        </p:txBody>
      </p:sp>
      <p:sp>
        <p:nvSpPr>
          <p:cNvPr id="1048619" name="Shape 3"/>
          <p:cNvSpPr/>
          <p:nvPr/>
        </p:nvSpPr>
        <p:spPr>
          <a:xfrm>
            <a:off x="8472830" y="2594228"/>
            <a:ext cx="82296" cy="82296"/>
          </a:xfrm>
          <a:prstGeom prst="ellipse"/>
          <a:solidFill>
            <a:srgbClr val="FFFFFF"/>
          </a:solidFill>
          <a:ln w="12700">
            <a:solidFill>
              <a:srgbClr val="CADCFC"/>
            </a:solidFill>
            <a:prstDash val="solid"/>
          </a:ln>
        </p:spPr>
        <p:txBody>
          <a:bodyPr/>
          <a:p>
            <a:endParaRPr lang="en-ZA"/>
          </a:p>
        </p:txBody>
      </p:sp>
      <p:sp>
        <p:nvSpPr>
          <p:cNvPr id="1048620" name="Shape 4"/>
          <p:cNvSpPr/>
          <p:nvPr/>
        </p:nvSpPr>
        <p:spPr>
          <a:xfrm>
            <a:off x="7589520" y="5074920"/>
            <a:ext cx="2103120" cy="310896"/>
          </a:xfrm>
          <a:prstGeom prst="roundRect">
            <a:avLst>
              <a:gd name="adj" fmla="val 50000"/>
            </a:avLst>
          </a:prstGeom>
          <a:solidFill>
            <a:srgbClr val="FFFFFF"/>
          </a:solidFill>
          <a:effectLst>
            <a:outerShdw algn="bl" blurRad="50800" dir="5400000" dist="12700" rotWithShape="0">
              <a:srgbClr val="000000">
                <a:alpha val="20000"/>
              </a:srgbClr>
            </a:outerShdw>
          </a:effectLst>
        </p:spPr>
        <p:txBody>
          <a:bodyPr/>
          <a:p>
            <a:endParaRPr lang="en-ZA"/>
          </a:p>
        </p:txBody>
      </p:sp>
      <p:sp>
        <p:nvSpPr>
          <p:cNvPr id="1048621" name="Text 5"/>
          <p:cNvSpPr/>
          <p:nvPr/>
        </p:nvSpPr>
        <p:spPr>
          <a:xfrm>
            <a:off x="7680960" y="5074920"/>
            <a:ext cx="1920240" cy="310896"/>
          </a:xfrm>
          <a:prstGeom prst="rect"/>
          <a:noFill/>
        </p:spPr>
        <p:txBody>
          <a:bodyPr anchor="ctr" bIns="0" lIns="0" rIns="0" rtlCol="0" tIns="0" wrap="square"/>
          <a:p>
            <a:pPr algn="ctr" indent="0" marL="0">
              <a:buNone/>
            </a:pPr>
            <a:r>
              <a:rPr b="1" dirty="0" sz="1050" lang="en-US">
                <a:solidFill>
                  <a:srgbClr val="1E2761"/>
                </a:solidFill>
                <a:latin typeface="Calibri" pitchFamily="34" charset="0"/>
                <a:ea typeface="Calibri" pitchFamily="34" charset="-122"/>
                <a:cs typeface="Calibri" pitchFamily="34" charset="-120"/>
              </a:rPr>
              <a:t>Vision Tech branding</a:t>
            </a:r>
            <a:endParaRPr dirty="0" sz="1050" lang="en-US"/>
          </a:p>
        </p:txBody>
      </p:sp>
      <p:sp>
        <p:nvSpPr>
          <p:cNvPr id="1048622" name="Shape 6"/>
          <p:cNvSpPr/>
          <p:nvPr/>
        </p:nvSpPr>
        <p:spPr>
          <a:xfrm flipV="1">
            <a:off x="10744200" y="3939187"/>
            <a:ext cx="74066" cy="1684373"/>
          </a:xfrm>
          <a:prstGeom prst="line"/>
          <a:noFill/>
          <a:ln w="12700">
            <a:solidFill>
              <a:srgbClr val="CADCFC"/>
            </a:solidFill>
            <a:prstDash val="solid"/>
          </a:ln>
        </p:spPr>
        <p:txBody>
          <a:bodyPr/>
          <a:p>
            <a:endParaRPr lang="en-ZA"/>
          </a:p>
        </p:txBody>
      </p:sp>
      <p:sp>
        <p:nvSpPr>
          <p:cNvPr id="1048623" name="Shape 7"/>
          <p:cNvSpPr/>
          <p:nvPr/>
        </p:nvSpPr>
        <p:spPr>
          <a:xfrm>
            <a:off x="10777118" y="3898039"/>
            <a:ext cx="82296" cy="82296"/>
          </a:xfrm>
          <a:prstGeom prst="ellipse"/>
          <a:solidFill>
            <a:srgbClr val="FFFFFF"/>
          </a:solidFill>
          <a:ln w="12700">
            <a:solidFill>
              <a:srgbClr val="CADCFC"/>
            </a:solidFill>
            <a:prstDash val="solid"/>
          </a:ln>
        </p:spPr>
        <p:txBody>
          <a:bodyPr/>
          <a:p>
            <a:endParaRPr lang="en-ZA"/>
          </a:p>
        </p:txBody>
      </p:sp>
      <p:sp>
        <p:nvSpPr>
          <p:cNvPr id="1048624" name="Shape 8"/>
          <p:cNvSpPr/>
          <p:nvPr/>
        </p:nvSpPr>
        <p:spPr>
          <a:xfrm>
            <a:off x="9646920" y="5623560"/>
            <a:ext cx="2194560" cy="310896"/>
          </a:xfrm>
          <a:prstGeom prst="roundRect">
            <a:avLst>
              <a:gd name="adj" fmla="val 50000"/>
            </a:avLst>
          </a:prstGeom>
          <a:solidFill>
            <a:srgbClr val="FFFFFF"/>
          </a:solidFill>
          <a:effectLst>
            <a:outerShdw algn="bl" blurRad="50800" dir="5400000" dist="12700" rotWithShape="0">
              <a:srgbClr val="000000">
                <a:alpha val="20000"/>
              </a:srgbClr>
            </a:outerShdw>
          </a:effectLst>
        </p:spPr>
        <p:txBody>
          <a:bodyPr/>
          <a:p>
            <a:endParaRPr lang="en-ZA"/>
          </a:p>
        </p:txBody>
      </p:sp>
      <p:sp>
        <p:nvSpPr>
          <p:cNvPr id="1048625" name="Text 9"/>
          <p:cNvSpPr/>
          <p:nvPr/>
        </p:nvSpPr>
        <p:spPr>
          <a:xfrm>
            <a:off x="9738360" y="5623560"/>
            <a:ext cx="2011680" cy="310896"/>
          </a:xfrm>
          <a:prstGeom prst="rect"/>
          <a:noFill/>
        </p:spPr>
        <p:txBody>
          <a:bodyPr anchor="ctr" bIns="0" lIns="0" rIns="0" rtlCol="0" tIns="0" wrap="square"/>
          <a:p>
            <a:pPr algn="ctr" indent="0" marL="0">
              <a:buNone/>
            </a:pPr>
            <a:r>
              <a:rPr b="1" dirty="0" sz="1050" lang="en-US">
                <a:solidFill>
                  <a:srgbClr val="1E2761"/>
                </a:solidFill>
                <a:latin typeface="Calibri" pitchFamily="34" charset="0"/>
                <a:ea typeface="Calibri" pitchFamily="34" charset="-122"/>
                <a:cs typeface="Calibri" pitchFamily="34" charset="-120"/>
              </a:rPr>
              <a:t>Live progress preview</a:t>
            </a:r>
            <a:endParaRPr dirty="0" sz="1050" lang="en-US"/>
          </a:p>
        </p:txBody>
      </p:sp>
    </p:spTree>
  </p:cSld>
  <p:clrMapOvr>
    <a:masterClrMapping/>
  </p:clrMapOvr>
  <p:transition spd="med" advClick="1" advTm="95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44" name=""/>
        <p:cNvGrpSpPr/>
        <p:nvPr/>
      </p:nvGrpSpPr>
      <p:grpSpPr>
        <a:xfrm>
          <a:off x="0" y="0"/>
          <a:ext cx="0" cy="0"/>
          <a:chOff x="0" y="0"/>
          <a:chExt cx="0" cy="0"/>
        </a:xfrm>
      </p:grpSpPr>
      <p:sp>
        <p:nvSpPr>
          <p:cNvPr id="1048629" name="Text 0"/>
          <p:cNvSpPr/>
          <p:nvPr/>
        </p:nvSpPr>
        <p:spPr>
          <a:xfrm>
            <a:off x="548640" y="365760"/>
            <a:ext cx="11064240" cy="594360"/>
          </a:xfrm>
          <a:prstGeom prst="rect"/>
          <a:noFill/>
        </p:spPr>
        <p:txBody>
          <a:bodyPr anchor="ctr" bIns="0" lIns="0" rIns="0" rtlCol="0" tIns="0" wrap="square"/>
          <a:p>
            <a:pPr indent="0" marL="0">
              <a:buNone/>
            </a:pPr>
            <a:r>
              <a:rPr b="1" dirty="0" sz="2800" lang="en-US">
                <a:solidFill>
                  <a:srgbClr val="1A1A2E"/>
                </a:solidFill>
                <a:latin typeface="Cambria" pitchFamily="34" charset="0"/>
                <a:ea typeface="Cambria" pitchFamily="34" charset="-122"/>
                <a:cs typeface="Cambria" pitchFamily="34" charset="-120"/>
              </a:rPr>
              <a:t>The learner journey begins</a:t>
            </a:r>
            <a:endParaRPr dirty="0" sz="2800" lang="en-US"/>
          </a:p>
        </p:txBody>
      </p:sp>
      <p:sp>
        <p:nvSpPr>
          <p:cNvPr id="1048630" name="Text 1"/>
          <p:cNvSpPr/>
          <p:nvPr/>
        </p:nvSpPr>
        <p:spPr>
          <a:xfrm>
            <a:off x="548640" y="914400"/>
            <a:ext cx="11064240" cy="457200"/>
          </a:xfrm>
          <a:prstGeom prst="rect"/>
          <a:noFill/>
        </p:spPr>
        <p:txBody>
          <a:bodyPr anchor="ctr" bIns="0" lIns="0" rIns="0" rtlCol="0" tIns="0" wrap="square"/>
          <a:p>
            <a:pPr indent="0" marL="0">
              <a:buNone/>
            </a:pPr>
            <a:r>
              <a:rPr dirty="0" sz="1500" i="1" lang="en-US">
                <a:solidFill>
                  <a:srgbClr val="6B7280"/>
                </a:solidFill>
                <a:latin typeface="Calibri" pitchFamily="34" charset="0"/>
                <a:ea typeface="Calibri" pitchFamily="34" charset="-122"/>
                <a:cs typeface="Calibri" pitchFamily="34" charset="-120"/>
              </a:rPr>
              <a:t>From sign-up to first diagnostic in under 5 minutes.</a:t>
            </a:r>
            <a:endParaRPr dirty="0" sz="1500" lang="en-US"/>
          </a:p>
        </p:txBody>
      </p:sp>
      <p:pic>
        <p:nvPicPr>
          <p:cNvPr id="2097154" name="Image 0" descr="/home/claude/imgs/Create_account_page.png"/>
          <p:cNvPicPr>
            <a:picLocks noChangeAspect="1"/>
          </p:cNvPicPr>
          <p:nvPr/>
        </p:nvPicPr>
        <p:blipFill>
          <a:blip xmlns:r="http://schemas.openxmlformats.org/officeDocument/2006/relationships" r:embed="rId1"/>
          <a:stretch>
            <a:fillRect/>
          </a:stretch>
        </p:blipFill>
        <p:spPr>
          <a:xfrm>
            <a:off x="426568" y="1737360"/>
            <a:ext cx="3566160" cy="1520517"/>
          </a:xfrm>
          <a:prstGeom prst="rect"/>
          <a:effectLst>
            <a:outerShdw algn="bl" blurRad="101600" dir="5400000" dist="38100" rotWithShape="0">
              <a:srgbClr val="000000">
                <a:alpha val="25000"/>
              </a:srgbClr>
            </a:outerShdw>
          </a:effectLst>
        </p:spPr>
      </p:pic>
      <p:sp>
        <p:nvSpPr>
          <p:cNvPr id="1048631" name="Text 2"/>
          <p:cNvSpPr/>
          <p:nvPr/>
        </p:nvSpPr>
        <p:spPr>
          <a:xfrm>
            <a:off x="426568" y="5486400"/>
            <a:ext cx="3566160" cy="365760"/>
          </a:xfrm>
          <a:prstGeom prst="rect"/>
          <a:noFill/>
        </p:spPr>
        <p:txBody>
          <a:bodyPr anchor="ctr" rtlCol="0" wrap="square"/>
          <a:p>
            <a:pPr algn="ctr" indent="0" marL="0">
              <a:buNone/>
            </a:pPr>
            <a:r>
              <a:rPr b="1" dirty="0" sz="1200" kern="0" lang="en-US" spc="100">
                <a:solidFill>
                  <a:srgbClr val="1E2761"/>
                </a:solidFill>
                <a:latin typeface="Calibri" pitchFamily="34" charset="0"/>
                <a:ea typeface="Calibri" pitchFamily="34" charset="-122"/>
                <a:cs typeface="Calibri" pitchFamily="34" charset="-120"/>
              </a:rPr>
              <a:t>1 · SIGN UP</a:t>
            </a:r>
            <a:endParaRPr dirty="0" sz="1200" lang="en-US"/>
          </a:p>
        </p:txBody>
      </p:sp>
      <p:sp>
        <p:nvSpPr>
          <p:cNvPr id="1048632" name="Text 3"/>
          <p:cNvSpPr/>
          <p:nvPr/>
        </p:nvSpPr>
        <p:spPr>
          <a:xfrm>
            <a:off x="563728" y="5833872"/>
            <a:ext cx="3291840" cy="365760"/>
          </a:xfrm>
          <a:prstGeom prst="rect"/>
          <a:noFill/>
        </p:spPr>
        <p:txBody>
          <a:bodyPr anchor="ctr" bIns="0" lIns="0" rIns="0" rtlCol="0" tIns="0" wrap="square"/>
          <a:p>
            <a:pPr algn="ctr" indent="0" marL="0">
              <a:buNone/>
            </a:pPr>
            <a:r>
              <a:rPr dirty="0" sz="1050" i="1" lang="en-US">
                <a:solidFill>
                  <a:srgbClr val="6B7280"/>
                </a:solidFill>
                <a:latin typeface="Calibri" pitchFamily="34" charset="0"/>
                <a:ea typeface="Calibri" pitchFamily="34" charset="-122"/>
                <a:cs typeface="Calibri" pitchFamily="34" charset="-120"/>
              </a:rPr>
              <a:t>Frictionless learner onboarding</a:t>
            </a:r>
            <a:endParaRPr dirty="0" sz="1050" lang="en-US"/>
          </a:p>
        </p:txBody>
      </p:sp>
      <p:sp>
        <p:nvSpPr>
          <p:cNvPr id="1048633" name="Text 4"/>
          <p:cNvSpPr/>
          <p:nvPr/>
        </p:nvSpPr>
        <p:spPr>
          <a:xfrm>
            <a:off x="3947008" y="3108960"/>
            <a:ext cx="411480" cy="548640"/>
          </a:xfrm>
          <a:prstGeom prst="rect"/>
          <a:noFill/>
        </p:spPr>
        <p:txBody>
          <a:bodyPr anchor="ctr" rtlCol="0" wrap="square"/>
          <a:p>
            <a:pPr algn="ctr" indent="0" marL="0">
              <a:buNone/>
            </a:pPr>
            <a:r>
              <a:rPr b="1" dirty="0" sz="2200" lang="en-US">
                <a:solidFill>
                  <a:srgbClr val="1E2761"/>
                </a:solidFill>
              </a:rPr>
              <a:t>→</a:t>
            </a:r>
            <a:endParaRPr dirty="0" sz="2200" lang="en-US"/>
          </a:p>
        </p:txBody>
      </p:sp>
      <p:pic>
        <p:nvPicPr>
          <p:cNvPr id="2097155" name="Image 1" descr="/home/claude/imgs/Take_Diagnostic_test_View.png"/>
          <p:cNvPicPr>
            <a:picLocks noChangeAspect="1"/>
          </p:cNvPicPr>
          <p:nvPr/>
        </p:nvPicPr>
        <p:blipFill>
          <a:blip xmlns:r="http://schemas.openxmlformats.org/officeDocument/2006/relationships" r:embed="rId2"/>
          <a:stretch>
            <a:fillRect/>
          </a:stretch>
        </p:blipFill>
        <p:spPr>
          <a:xfrm>
            <a:off x="4312768" y="1737360"/>
            <a:ext cx="3566160" cy="1494391"/>
          </a:xfrm>
          <a:prstGeom prst="rect"/>
          <a:effectLst>
            <a:outerShdw algn="bl" blurRad="101600" dir="5400000" dist="38100" rotWithShape="0">
              <a:srgbClr val="000000">
                <a:alpha val="25000"/>
              </a:srgbClr>
            </a:outerShdw>
          </a:effectLst>
        </p:spPr>
      </p:pic>
      <p:sp>
        <p:nvSpPr>
          <p:cNvPr id="1048634" name="Text 5"/>
          <p:cNvSpPr/>
          <p:nvPr/>
        </p:nvSpPr>
        <p:spPr>
          <a:xfrm>
            <a:off x="4312768" y="5486400"/>
            <a:ext cx="3566160" cy="365760"/>
          </a:xfrm>
          <a:prstGeom prst="rect"/>
          <a:noFill/>
        </p:spPr>
        <p:txBody>
          <a:bodyPr anchor="ctr" rtlCol="0" wrap="square"/>
          <a:p>
            <a:pPr algn="ctr" indent="0" marL="0">
              <a:buNone/>
            </a:pPr>
            <a:r>
              <a:rPr b="1" dirty="0" sz="1200" kern="0" lang="en-US" spc="100">
                <a:solidFill>
                  <a:srgbClr val="1E2761"/>
                </a:solidFill>
                <a:latin typeface="Calibri" pitchFamily="34" charset="0"/>
                <a:ea typeface="Calibri" pitchFamily="34" charset="-122"/>
                <a:cs typeface="Calibri" pitchFamily="34" charset="-120"/>
              </a:rPr>
              <a:t>2 · SET UP</a:t>
            </a:r>
            <a:endParaRPr dirty="0" sz="1200" lang="en-US"/>
          </a:p>
        </p:txBody>
      </p:sp>
      <p:sp>
        <p:nvSpPr>
          <p:cNvPr id="1048635" name="Text 6"/>
          <p:cNvSpPr/>
          <p:nvPr/>
        </p:nvSpPr>
        <p:spPr>
          <a:xfrm>
            <a:off x="4449928" y="5833872"/>
            <a:ext cx="3291840" cy="365760"/>
          </a:xfrm>
          <a:prstGeom prst="rect"/>
          <a:noFill/>
        </p:spPr>
        <p:txBody>
          <a:bodyPr anchor="ctr" bIns="0" lIns="0" rIns="0" rtlCol="0" tIns="0" wrap="square"/>
          <a:p>
            <a:pPr algn="ctr" indent="0" marL="0">
              <a:buNone/>
            </a:pPr>
            <a:r>
              <a:rPr dirty="0" sz="1050" i="1" lang="en-US">
                <a:solidFill>
                  <a:srgbClr val="6B7280"/>
                </a:solidFill>
                <a:latin typeface="Calibri" pitchFamily="34" charset="0"/>
                <a:ea typeface="Calibri" pitchFamily="34" charset="-122"/>
                <a:cs typeface="Calibri" pitchFamily="34" charset="-120"/>
              </a:rPr>
              <a:t>Grade, subject &amp; timed/practice modes</a:t>
            </a:r>
            <a:endParaRPr dirty="0" sz="1050" lang="en-US"/>
          </a:p>
        </p:txBody>
      </p:sp>
      <p:sp>
        <p:nvSpPr>
          <p:cNvPr id="1048636" name="Text 7"/>
          <p:cNvSpPr/>
          <p:nvPr/>
        </p:nvSpPr>
        <p:spPr>
          <a:xfrm>
            <a:off x="7833208" y="3108960"/>
            <a:ext cx="411480" cy="548640"/>
          </a:xfrm>
          <a:prstGeom prst="rect"/>
          <a:noFill/>
        </p:spPr>
        <p:txBody>
          <a:bodyPr anchor="ctr" rtlCol="0" wrap="square"/>
          <a:p>
            <a:pPr algn="ctr" indent="0" marL="0">
              <a:buNone/>
            </a:pPr>
            <a:r>
              <a:rPr b="1" dirty="0" sz="2200" lang="en-US">
                <a:solidFill>
                  <a:srgbClr val="1E2761"/>
                </a:solidFill>
              </a:rPr>
              <a:t>→</a:t>
            </a:r>
            <a:endParaRPr dirty="0" sz="2200" lang="en-US"/>
          </a:p>
        </p:txBody>
      </p:sp>
      <p:pic>
        <p:nvPicPr>
          <p:cNvPr id="2097156" name="Image 2" descr="/home/claude/imgs/Test_view.png"/>
          <p:cNvPicPr>
            <a:picLocks noChangeAspect="1"/>
          </p:cNvPicPr>
          <p:nvPr/>
        </p:nvPicPr>
        <p:blipFill>
          <a:blip xmlns:r="http://schemas.openxmlformats.org/officeDocument/2006/relationships" r:embed="rId3"/>
          <a:stretch>
            <a:fillRect/>
          </a:stretch>
        </p:blipFill>
        <p:spPr>
          <a:xfrm>
            <a:off x="8198968" y="1737360"/>
            <a:ext cx="3566160" cy="1522365"/>
          </a:xfrm>
          <a:prstGeom prst="rect"/>
          <a:effectLst>
            <a:outerShdw algn="bl" blurRad="101600" dir="5400000" dist="38100" rotWithShape="0">
              <a:srgbClr val="000000">
                <a:alpha val="25000"/>
              </a:srgbClr>
            </a:outerShdw>
          </a:effectLst>
        </p:spPr>
      </p:pic>
      <p:sp>
        <p:nvSpPr>
          <p:cNvPr id="1048637" name="Text 8"/>
          <p:cNvSpPr/>
          <p:nvPr/>
        </p:nvSpPr>
        <p:spPr>
          <a:xfrm>
            <a:off x="8198968" y="5486400"/>
            <a:ext cx="3566160" cy="365760"/>
          </a:xfrm>
          <a:prstGeom prst="rect"/>
          <a:noFill/>
        </p:spPr>
        <p:txBody>
          <a:bodyPr anchor="ctr" rtlCol="0" wrap="square"/>
          <a:p>
            <a:pPr algn="ctr" indent="0" marL="0">
              <a:buNone/>
            </a:pPr>
            <a:r>
              <a:rPr b="1" dirty="0" sz="1200" kern="0" lang="en-US" spc="100">
                <a:solidFill>
                  <a:srgbClr val="1E2761"/>
                </a:solidFill>
                <a:latin typeface="Calibri" pitchFamily="34" charset="0"/>
                <a:ea typeface="Calibri" pitchFamily="34" charset="-122"/>
                <a:cs typeface="Calibri" pitchFamily="34" charset="-120"/>
              </a:rPr>
              <a:t>3 · TAKE THE TEST</a:t>
            </a:r>
            <a:endParaRPr dirty="0" sz="1200" lang="en-US"/>
          </a:p>
        </p:txBody>
      </p:sp>
      <p:sp>
        <p:nvSpPr>
          <p:cNvPr id="1048638" name="Text 9"/>
          <p:cNvSpPr/>
          <p:nvPr/>
        </p:nvSpPr>
        <p:spPr>
          <a:xfrm>
            <a:off x="8336128" y="5833872"/>
            <a:ext cx="3291840" cy="365760"/>
          </a:xfrm>
          <a:prstGeom prst="rect"/>
          <a:noFill/>
        </p:spPr>
        <p:txBody>
          <a:bodyPr anchor="ctr" bIns="0" lIns="0" rIns="0" rtlCol="0" tIns="0" wrap="square"/>
          <a:p>
            <a:pPr algn="ctr" indent="0" marL="0">
              <a:buNone/>
            </a:pPr>
            <a:r>
              <a:rPr dirty="0" sz="1050" i="1" lang="en-US">
                <a:solidFill>
                  <a:srgbClr val="6B7280"/>
                </a:solidFill>
                <a:latin typeface="Calibri" pitchFamily="34" charset="0"/>
                <a:ea typeface="Calibri" pitchFamily="34" charset="-122"/>
                <a:cs typeface="Calibri" pitchFamily="34" charset="-120"/>
              </a:rPr>
              <a:t>Live timer &amp; question navigator</a:t>
            </a:r>
            <a:endParaRPr dirty="0" sz="1050" lang="en-US"/>
          </a:p>
        </p:txBody>
      </p:sp>
    </p:spTree>
  </p:cSld>
  <p:clrMapOvr>
    <a:masterClrMapping/>
  </p:clrMapOvr>
  <p:transition spd="med" advClick="1" advTm="105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47" name=""/>
        <p:cNvGrpSpPr/>
        <p:nvPr/>
      </p:nvGrpSpPr>
      <p:grpSpPr>
        <a:xfrm>
          <a:off x="0" y="0"/>
          <a:ext cx="0" cy="0"/>
          <a:chOff x="0" y="0"/>
          <a:chExt cx="0" cy="0"/>
        </a:xfrm>
      </p:grpSpPr>
      <p:sp>
        <p:nvSpPr>
          <p:cNvPr id="1048642" name="Text 0"/>
          <p:cNvSpPr/>
          <p:nvPr/>
        </p:nvSpPr>
        <p:spPr>
          <a:xfrm>
            <a:off x="548640" y="320040"/>
            <a:ext cx="11064240" cy="548640"/>
          </a:xfrm>
          <a:prstGeom prst="rect"/>
          <a:noFill/>
        </p:spPr>
        <p:txBody>
          <a:bodyPr anchor="ctr" bIns="0" lIns="0" rIns="0" rtlCol="0" tIns="0" wrap="square"/>
          <a:p>
            <a:pPr indent="0" marL="0">
              <a:buNone/>
            </a:pPr>
            <a:r>
              <a:rPr b="1" dirty="0" sz="2600" lang="en-US">
                <a:solidFill>
                  <a:srgbClr val="1A1A2E"/>
                </a:solidFill>
                <a:latin typeface="Cambria" pitchFamily="34" charset="0"/>
                <a:ea typeface="Cambria" pitchFamily="34" charset="-122"/>
                <a:cs typeface="Cambria" pitchFamily="34" charset="-120"/>
              </a:rPr>
              <a:t>Not just a score. A map of what to learn next.</a:t>
            </a:r>
            <a:endParaRPr dirty="0" sz="2600" lang="en-US"/>
          </a:p>
        </p:txBody>
      </p:sp>
      <p:pic>
        <p:nvPicPr>
          <p:cNvPr id="2097157" name="Image 0" descr="/home/claude/imgs/Diagnostic_test_results_view_1.png"/>
          <p:cNvPicPr>
            <a:picLocks noChangeAspect="1"/>
          </p:cNvPicPr>
          <p:nvPr/>
        </p:nvPicPr>
        <p:blipFill>
          <a:blip xmlns:r="http://schemas.openxmlformats.org/officeDocument/2006/relationships" r:embed="rId1"/>
          <a:stretch>
            <a:fillRect/>
          </a:stretch>
        </p:blipFill>
        <p:spPr>
          <a:xfrm>
            <a:off x="3389387" y="960120"/>
            <a:ext cx="5412921" cy="2331720"/>
          </a:xfrm>
          <a:prstGeom prst="rect"/>
          <a:effectLst>
            <a:outerShdw algn="bl" blurRad="101600" dir="5400000" dist="38100" rotWithShape="0">
              <a:srgbClr val="000000">
                <a:alpha val="25000"/>
              </a:srgbClr>
            </a:outerShdw>
          </a:effectLst>
        </p:spPr>
      </p:pic>
      <p:sp>
        <p:nvSpPr>
          <p:cNvPr id="1048643" name="Text 1"/>
          <p:cNvSpPr/>
          <p:nvPr/>
        </p:nvSpPr>
        <p:spPr>
          <a:xfrm>
            <a:off x="3389387" y="3337560"/>
            <a:ext cx="5412921" cy="274320"/>
          </a:xfrm>
          <a:prstGeom prst="rect"/>
          <a:noFill/>
        </p:spPr>
        <p:txBody>
          <a:bodyPr anchor="ctr" rtlCol="0" wrap="square"/>
          <a:p>
            <a:pPr algn="r" indent="0" marL="0">
              <a:buNone/>
            </a:pPr>
            <a:r>
              <a:rPr dirty="0" sz="1000" i="1" lang="en-US">
                <a:solidFill>
                  <a:srgbClr val="6B7280"/>
                </a:solidFill>
                <a:latin typeface="Calibri" pitchFamily="34" charset="0"/>
                <a:ea typeface="Calibri" pitchFamily="34" charset="-122"/>
                <a:cs typeface="Calibri" pitchFamily="34" charset="-120"/>
              </a:rPr>
              <a:t>Sample diagnostic data</a:t>
            </a:r>
            <a:endParaRPr dirty="0" sz="1000" lang="en-US"/>
          </a:p>
        </p:txBody>
      </p:sp>
      <p:sp>
        <p:nvSpPr>
          <p:cNvPr id="1048644" name="Shape 2"/>
          <p:cNvSpPr/>
          <p:nvPr/>
        </p:nvSpPr>
        <p:spPr>
          <a:xfrm>
            <a:off x="1737360" y="1819656"/>
            <a:ext cx="2518094" cy="119786"/>
          </a:xfrm>
          <a:prstGeom prst="line"/>
          <a:noFill/>
          <a:ln w="12700">
            <a:solidFill>
              <a:srgbClr val="3B2E7E"/>
            </a:solidFill>
            <a:prstDash val="solid"/>
          </a:ln>
        </p:spPr>
        <p:txBody>
          <a:bodyPr/>
          <a:p>
            <a:endParaRPr lang="en-ZA"/>
          </a:p>
        </p:txBody>
      </p:sp>
      <p:sp>
        <p:nvSpPr>
          <p:cNvPr id="1048645" name="Shape 3"/>
          <p:cNvSpPr/>
          <p:nvPr/>
        </p:nvSpPr>
        <p:spPr>
          <a:xfrm>
            <a:off x="4214306" y="1898294"/>
            <a:ext cx="82296" cy="82296"/>
          </a:xfrm>
          <a:prstGeom prst="ellipse"/>
          <a:solidFill>
            <a:srgbClr val="3B2E7E"/>
          </a:solidFill>
          <a:ln w="12700">
            <a:solidFill>
              <a:srgbClr val="3B2E7E"/>
            </a:solidFill>
            <a:prstDash val="solid"/>
          </a:ln>
        </p:spPr>
        <p:txBody>
          <a:bodyPr/>
          <a:p>
            <a:endParaRPr lang="en-ZA"/>
          </a:p>
        </p:txBody>
      </p:sp>
      <p:sp>
        <p:nvSpPr>
          <p:cNvPr id="1048646" name="Shape 4"/>
          <p:cNvSpPr/>
          <p:nvPr/>
        </p:nvSpPr>
        <p:spPr>
          <a:xfrm>
            <a:off x="548640" y="1508760"/>
            <a:ext cx="237744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47" name="Text 5"/>
          <p:cNvSpPr/>
          <p:nvPr/>
        </p:nvSpPr>
        <p:spPr>
          <a:xfrm>
            <a:off x="640080" y="1508760"/>
            <a:ext cx="219456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Instant score breakdown</a:t>
            </a:r>
            <a:endParaRPr dirty="0" sz="1050" lang="en-US"/>
          </a:p>
        </p:txBody>
      </p:sp>
      <p:pic>
        <p:nvPicPr>
          <p:cNvPr id="2097158" name="Image 1" descr="/home/claude/imgs/Diagnostic_test_results_view_3.png"/>
          <p:cNvPicPr>
            <a:picLocks noChangeAspect="1"/>
          </p:cNvPicPr>
          <p:nvPr/>
        </p:nvPicPr>
        <p:blipFill>
          <a:blip xmlns:r="http://schemas.openxmlformats.org/officeDocument/2006/relationships" r:embed="rId2"/>
          <a:stretch>
            <a:fillRect/>
          </a:stretch>
        </p:blipFill>
        <p:spPr>
          <a:xfrm>
            <a:off x="502920" y="3977640"/>
            <a:ext cx="4641219" cy="2468880"/>
          </a:xfrm>
          <a:prstGeom prst="rect"/>
          <a:effectLst>
            <a:outerShdw algn="bl" blurRad="76200" dir="5400000" dist="25400" rotWithShape="0">
              <a:srgbClr val="000000">
                <a:alpha val="20000"/>
              </a:srgbClr>
            </a:outerShdw>
          </a:effectLst>
        </p:spPr>
      </p:pic>
      <p:sp>
        <p:nvSpPr>
          <p:cNvPr id="1048648" name="Shape 6"/>
          <p:cNvSpPr/>
          <p:nvPr/>
        </p:nvSpPr>
        <p:spPr>
          <a:xfrm flipV="1">
            <a:off x="920630" y="3739896"/>
            <a:ext cx="816730" cy="558698"/>
          </a:xfrm>
          <a:prstGeom prst="line"/>
          <a:noFill/>
          <a:ln w="12700">
            <a:solidFill>
              <a:srgbClr val="3B2E7E"/>
            </a:solidFill>
            <a:prstDash val="solid"/>
          </a:ln>
        </p:spPr>
        <p:txBody>
          <a:bodyPr/>
          <a:p>
            <a:endParaRPr lang="en-ZA"/>
          </a:p>
        </p:txBody>
      </p:sp>
      <p:sp>
        <p:nvSpPr>
          <p:cNvPr id="1048649" name="Shape 7"/>
          <p:cNvSpPr/>
          <p:nvPr/>
        </p:nvSpPr>
        <p:spPr>
          <a:xfrm>
            <a:off x="879482" y="4257446"/>
            <a:ext cx="82296" cy="82296"/>
          </a:xfrm>
          <a:prstGeom prst="ellipse"/>
          <a:solidFill>
            <a:srgbClr val="3B2E7E"/>
          </a:solidFill>
          <a:ln w="12700">
            <a:solidFill>
              <a:srgbClr val="3B2E7E"/>
            </a:solidFill>
            <a:prstDash val="solid"/>
          </a:ln>
        </p:spPr>
        <p:txBody>
          <a:bodyPr/>
          <a:p>
            <a:endParaRPr lang="en-ZA"/>
          </a:p>
        </p:txBody>
      </p:sp>
      <p:sp>
        <p:nvSpPr>
          <p:cNvPr id="1048650" name="Shape 8"/>
          <p:cNvSpPr/>
          <p:nvPr/>
        </p:nvSpPr>
        <p:spPr>
          <a:xfrm>
            <a:off x="548640" y="3429000"/>
            <a:ext cx="237744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51" name="Text 9"/>
          <p:cNvSpPr/>
          <p:nvPr/>
        </p:nvSpPr>
        <p:spPr>
          <a:xfrm>
            <a:off x="640080" y="3429000"/>
            <a:ext cx="219456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Topic-level breakdown</a:t>
            </a:r>
            <a:endParaRPr dirty="0" sz="1050" lang="en-US"/>
          </a:p>
        </p:txBody>
      </p:sp>
      <p:pic>
        <p:nvPicPr>
          <p:cNvPr id="2097159" name="Image 2" descr="/home/claude/imgs/Diagnostic_test_results_view__recommended_learning_path_.png"/>
          <p:cNvPicPr>
            <a:picLocks noChangeAspect="1"/>
          </p:cNvPicPr>
          <p:nvPr/>
        </p:nvPicPr>
        <p:blipFill>
          <a:blip xmlns:r="http://schemas.openxmlformats.org/officeDocument/2006/relationships" r:embed="rId3"/>
          <a:stretch>
            <a:fillRect/>
          </a:stretch>
        </p:blipFill>
        <p:spPr>
          <a:xfrm>
            <a:off x="6263640" y="3977640"/>
            <a:ext cx="5394960" cy="2272602"/>
          </a:xfrm>
          <a:prstGeom prst="rect"/>
          <a:effectLst>
            <a:outerShdw algn="bl" blurRad="76200" dir="5400000" dist="25400" rotWithShape="0">
              <a:srgbClr val="000000">
                <a:alpha val="20000"/>
              </a:srgbClr>
            </a:outerShdw>
          </a:effectLst>
        </p:spPr>
      </p:pic>
      <p:sp>
        <p:nvSpPr>
          <p:cNvPr id="1048652" name="Shape 10"/>
          <p:cNvSpPr/>
          <p:nvPr/>
        </p:nvSpPr>
        <p:spPr>
          <a:xfrm flipV="1">
            <a:off x="6749186" y="3739896"/>
            <a:ext cx="977494" cy="578634"/>
          </a:xfrm>
          <a:prstGeom prst="line"/>
          <a:noFill/>
          <a:ln w="12700">
            <a:solidFill>
              <a:srgbClr val="3B2E7E"/>
            </a:solidFill>
            <a:prstDash val="solid"/>
          </a:ln>
        </p:spPr>
        <p:txBody>
          <a:bodyPr/>
          <a:p>
            <a:endParaRPr lang="en-ZA"/>
          </a:p>
        </p:txBody>
      </p:sp>
      <p:sp>
        <p:nvSpPr>
          <p:cNvPr id="1048653" name="Shape 11"/>
          <p:cNvSpPr/>
          <p:nvPr/>
        </p:nvSpPr>
        <p:spPr>
          <a:xfrm>
            <a:off x="6708038" y="4277382"/>
            <a:ext cx="82296" cy="82296"/>
          </a:xfrm>
          <a:prstGeom prst="ellipse"/>
          <a:solidFill>
            <a:srgbClr val="3B2E7E"/>
          </a:solidFill>
          <a:ln w="12700">
            <a:solidFill>
              <a:srgbClr val="3B2E7E"/>
            </a:solidFill>
            <a:prstDash val="solid"/>
          </a:ln>
        </p:spPr>
        <p:txBody>
          <a:bodyPr/>
          <a:p>
            <a:endParaRPr lang="en-ZA"/>
          </a:p>
        </p:txBody>
      </p:sp>
      <p:sp>
        <p:nvSpPr>
          <p:cNvPr id="1048654" name="Shape 12"/>
          <p:cNvSpPr/>
          <p:nvPr/>
        </p:nvSpPr>
        <p:spPr>
          <a:xfrm>
            <a:off x="6400800" y="3429000"/>
            <a:ext cx="265176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55" name="Text 13"/>
          <p:cNvSpPr/>
          <p:nvPr/>
        </p:nvSpPr>
        <p:spPr>
          <a:xfrm>
            <a:off x="6492240" y="3429000"/>
            <a:ext cx="246888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Personalised learning paths</a:t>
            </a:r>
            <a:endParaRPr dirty="0" sz="1050" lang="en-US"/>
          </a:p>
        </p:txBody>
      </p:sp>
    </p:spTree>
  </p:cSld>
  <p:clrMapOvr>
    <a:masterClrMapping/>
  </p:clrMapOvr>
  <p:transition spd="med" advClick="1" advTm="105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a:effectLst/>
      </p:bgPr>
    </p:bg>
    <p:spTree>
      <p:nvGrpSpPr>
        <p:cNvPr id="50" name=""/>
        <p:cNvGrpSpPr/>
        <p:nvPr/>
      </p:nvGrpSpPr>
      <p:grpSpPr>
        <a:xfrm>
          <a:off x="0" y="0"/>
          <a:ext cx="0" cy="0"/>
          <a:chOff x="0" y="0"/>
          <a:chExt cx="0" cy="0"/>
        </a:xfrm>
      </p:grpSpPr>
      <p:sp>
        <p:nvSpPr>
          <p:cNvPr id="1048659" name="Text 0"/>
          <p:cNvSpPr/>
          <p:nvPr/>
        </p:nvSpPr>
        <p:spPr>
          <a:xfrm>
            <a:off x="548640" y="320040"/>
            <a:ext cx="11064240" cy="548640"/>
          </a:xfrm>
          <a:prstGeom prst="rect"/>
          <a:noFill/>
        </p:spPr>
        <p:txBody>
          <a:bodyPr anchor="ctr" bIns="0" lIns="0" rIns="0" rtlCol="0" tIns="0" wrap="square"/>
          <a:p>
            <a:pPr indent="0" marL="0">
              <a:buNone/>
            </a:pPr>
            <a:r>
              <a:rPr b="1" dirty="0" sz="2600" lang="en-US">
                <a:solidFill>
                  <a:srgbClr val="1A1A2E"/>
                </a:solidFill>
                <a:latin typeface="Cambria" pitchFamily="34" charset="0"/>
                <a:ea typeface="Cambria" pitchFamily="34" charset="-122"/>
                <a:cs typeface="Cambria" pitchFamily="34" charset="-120"/>
              </a:rPr>
              <a:t>One dashboard. A clear next step, every time.</a:t>
            </a:r>
            <a:endParaRPr dirty="0" sz="2600" lang="en-US"/>
          </a:p>
        </p:txBody>
      </p:sp>
      <p:pic>
        <p:nvPicPr>
          <p:cNvPr id="2097160" name="Image 0" descr="/home/claude/imgs/learner_dashboard_overview.png"/>
          <p:cNvPicPr>
            <a:picLocks noChangeAspect="1"/>
          </p:cNvPicPr>
          <p:nvPr/>
        </p:nvPicPr>
        <p:blipFill>
          <a:blip xmlns:r="http://schemas.openxmlformats.org/officeDocument/2006/relationships" r:embed="rId1"/>
          <a:stretch>
            <a:fillRect/>
          </a:stretch>
        </p:blipFill>
        <p:spPr>
          <a:xfrm>
            <a:off x="502920" y="1051560"/>
            <a:ext cx="5212080" cy="2898146"/>
          </a:xfrm>
          <a:prstGeom prst="rect"/>
          <a:effectLst>
            <a:outerShdw algn="bl" blurRad="101600" dir="5400000" dist="38100" rotWithShape="0">
              <a:srgbClr val="000000">
                <a:alpha val="25000"/>
              </a:srgbClr>
            </a:outerShdw>
          </a:effectLst>
        </p:spPr>
      </p:pic>
      <p:sp>
        <p:nvSpPr>
          <p:cNvPr id="1048660" name="Shape 1"/>
          <p:cNvSpPr/>
          <p:nvPr/>
        </p:nvSpPr>
        <p:spPr>
          <a:xfrm flipV="1">
            <a:off x="4251960" y="1573226"/>
            <a:ext cx="733349" cy="2770174"/>
          </a:xfrm>
          <a:prstGeom prst="line"/>
          <a:noFill/>
          <a:ln w="12700">
            <a:solidFill>
              <a:srgbClr val="3B2E7E"/>
            </a:solidFill>
            <a:prstDash val="solid"/>
          </a:ln>
        </p:spPr>
        <p:txBody>
          <a:bodyPr/>
          <a:p>
            <a:endParaRPr lang="en-ZA"/>
          </a:p>
        </p:txBody>
      </p:sp>
      <p:sp>
        <p:nvSpPr>
          <p:cNvPr id="1048661" name="Shape 2"/>
          <p:cNvSpPr/>
          <p:nvPr/>
        </p:nvSpPr>
        <p:spPr>
          <a:xfrm>
            <a:off x="4944161" y="1532078"/>
            <a:ext cx="82296" cy="82296"/>
          </a:xfrm>
          <a:prstGeom prst="ellipse"/>
          <a:solidFill>
            <a:srgbClr val="3B2E7E"/>
          </a:solidFill>
          <a:ln w="12700">
            <a:solidFill>
              <a:srgbClr val="3B2E7E"/>
            </a:solidFill>
            <a:prstDash val="solid"/>
          </a:ln>
        </p:spPr>
        <p:txBody>
          <a:bodyPr/>
          <a:p>
            <a:endParaRPr lang="en-ZA"/>
          </a:p>
        </p:txBody>
      </p:sp>
      <p:sp>
        <p:nvSpPr>
          <p:cNvPr id="1048662" name="Shape 3"/>
          <p:cNvSpPr/>
          <p:nvPr/>
        </p:nvSpPr>
        <p:spPr>
          <a:xfrm>
            <a:off x="3063240" y="4343400"/>
            <a:ext cx="237744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63" name="Text 4"/>
          <p:cNvSpPr/>
          <p:nvPr/>
        </p:nvSpPr>
        <p:spPr>
          <a:xfrm>
            <a:off x="3154680" y="4343400"/>
            <a:ext cx="219456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Personalised focus area</a:t>
            </a:r>
            <a:endParaRPr dirty="0" sz="1050" lang="en-US"/>
          </a:p>
        </p:txBody>
      </p:sp>
      <p:sp>
        <p:nvSpPr>
          <p:cNvPr id="1048664" name="Shape 5"/>
          <p:cNvSpPr/>
          <p:nvPr/>
        </p:nvSpPr>
        <p:spPr>
          <a:xfrm flipV="1">
            <a:off x="1645920" y="2848410"/>
            <a:ext cx="681228" cy="2043630"/>
          </a:xfrm>
          <a:prstGeom prst="line"/>
          <a:noFill/>
          <a:ln w="12700">
            <a:solidFill>
              <a:srgbClr val="3B2E7E"/>
            </a:solidFill>
            <a:prstDash val="solid"/>
          </a:ln>
        </p:spPr>
        <p:txBody>
          <a:bodyPr/>
          <a:p>
            <a:endParaRPr lang="en-ZA"/>
          </a:p>
        </p:txBody>
      </p:sp>
      <p:sp>
        <p:nvSpPr>
          <p:cNvPr id="1048665" name="Shape 6"/>
          <p:cNvSpPr/>
          <p:nvPr/>
        </p:nvSpPr>
        <p:spPr>
          <a:xfrm>
            <a:off x="2286000" y="2807262"/>
            <a:ext cx="82296" cy="82296"/>
          </a:xfrm>
          <a:prstGeom prst="ellipse"/>
          <a:solidFill>
            <a:srgbClr val="3B2E7E"/>
          </a:solidFill>
          <a:ln w="12700">
            <a:solidFill>
              <a:srgbClr val="3B2E7E"/>
            </a:solidFill>
            <a:prstDash val="solid"/>
          </a:ln>
        </p:spPr>
        <p:txBody>
          <a:bodyPr/>
          <a:p>
            <a:endParaRPr lang="en-ZA"/>
          </a:p>
        </p:txBody>
      </p:sp>
      <p:sp>
        <p:nvSpPr>
          <p:cNvPr id="1048666" name="Shape 7"/>
          <p:cNvSpPr/>
          <p:nvPr/>
        </p:nvSpPr>
        <p:spPr>
          <a:xfrm>
            <a:off x="548640" y="4892040"/>
            <a:ext cx="219456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67" name="Text 8"/>
          <p:cNvSpPr/>
          <p:nvPr/>
        </p:nvSpPr>
        <p:spPr>
          <a:xfrm>
            <a:off x="640080" y="4892040"/>
            <a:ext cx="201168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Progress tracking</a:t>
            </a:r>
            <a:endParaRPr dirty="0" sz="1050" lang="en-US"/>
          </a:p>
        </p:txBody>
      </p:sp>
      <p:sp>
        <p:nvSpPr>
          <p:cNvPr id="1048668" name="Text 9"/>
          <p:cNvSpPr/>
          <p:nvPr/>
        </p:nvSpPr>
        <p:spPr>
          <a:xfrm>
            <a:off x="5806440" y="3017520"/>
            <a:ext cx="548640" cy="548640"/>
          </a:xfrm>
          <a:prstGeom prst="rect"/>
          <a:noFill/>
        </p:spPr>
        <p:txBody>
          <a:bodyPr anchor="ctr" rtlCol="0" wrap="square"/>
          <a:p>
            <a:pPr algn="ctr" indent="0" marL="0">
              <a:buNone/>
            </a:pPr>
            <a:r>
              <a:rPr b="1" dirty="0" sz="2600" lang="en-US">
                <a:solidFill>
                  <a:srgbClr val="1E2761"/>
                </a:solidFill>
              </a:rPr>
              <a:t>→</a:t>
            </a:r>
            <a:endParaRPr dirty="0" sz="2600" lang="en-US"/>
          </a:p>
        </p:txBody>
      </p:sp>
      <p:pic>
        <p:nvPicPr>
          <p:cNvPr id="2097161" name="Image 1" descr="/home/claude/imgs/Learning_Hub_Mathematics_view.png"/>
          <p:cNvPicPr>
            <a:picLocks noChangeAspect="1"/>
          </p:cNvPicPr>
          <p:nvPr/>
        </p:nvPicPr>
        <p:blipFill>
          <a:blip xmlns:r="http://schemas.openxmlformats.org/officeDocument/2006/relationships" r:embed="rId2"/>
          <a:stretch>
            <a:fillRect/>
          </a:stretch>
        </p:blipFill>
        <p:spPr>
          <a:xfrm>
            <a:off x="6355080" y="1051560"/>
            <a:ext cx="4848064" cy="2514600"/>
          </a:xfrm>
          <a:prstGeom prst="rect"/>
          <a:effectLst>
            <a:outerShdw algn="bl" blurRad="76200" dir="5400000" dist="25400" rotWithShape="0">
              <a:srgbClr val="000000">
                <a:alpha val="20000"/>
              </a:srgbClr>
            </a:outerShdw>
          </a:effectLst>
        </p:spPr>
      </p:pic>
      <p:pic>
        <p:nvPicPr>
          <p:cNvPr id="2097162" name="Image 2" descr="/home/claude/imgs/Learning_Hub_Mathematics_view__Algebra_tab_2.png"/>
          <p:cNvPicPr>
            <a:picLocks noChangeAspect="1"/>
          </p:cNvPicPr>
          <p:nvPr/>
        </p:nvPicPr>
        <p:blipFill>
          <a:blip xmlns:r="http://schemas.openxmlformats.org/officeDocument/2006/relationships" r:embed="rId3"/>
          <a:stretch>
            <a:fillRect/>
          </a:stretch>
        </p:blipFill>
        <p:spPr>
          <a:xfrm>
            <a:off x="6355080" y="3703320"/>
            <a:ext cx="4501200" cy="2514600"/>
          </a:xfrm>
          <a:prstGeom prst="rect"/>
          <a:effectLst>
            <a:outerShdw algn="bl" blurRad="76200" dir="5400000" dist="25400" rotWithShape="0">
              <a:srgbClr val="000000">
                <a:alpha val="20000"/>
              </a:srgbClr>
            </a:outerShdw>
          </a:effectLst>
        </p:spPr>
      </p:pic>
      <p:sp>
        <p:nvSpPr>
          <p:cNvPr id="1048669" name="Text 10"/>
          <p:cNvSpPr/>
          <p:nvPr/>
        </p:nvSpPr>
        <p:spPr>
          <a:xfrm>
            <a:off x="6355080" y="6263640"/>
            <a:ext cx="5394960" cy="320040"/>
          </a:xfrm>
          <a:prstGeom prst="rect"/>
          <a:noFill/>
        </p:spPr>
        <p:txBody>
          <a:bodyPr anchor="ctr" bIns="0" lIns="0" rIns="0" rtlCol="0" tIns="0" wrap="square"/>
          <a:p>
            <a:pPr algn="ctr" indent="0" marL="0">
              <a:buNone/>
            </a:pPr>
            <a:r>
              <a:rPr dirty="0" sz="1050" i="1" lang="en-US">
                <a:solidFill>
                  <a:srgbClr val="6B7280"/>
                </a:solidFill>
                <a:latin typeface="Calibri" pitchFamily="34" charset="0"/>
                <a:ea typeface="Calibri" pitchFamily="34" charset="-122"/>
                <a:cs typeface="Calibri" pitchFamily="34" charset="-120"/>
              </a:rPr>
              <a:t>Structured topic pathways with worked examples &amp; exam tips</a:t>
            </a:r>
            <a:endParaRPr dirty="0" sz="1050" lang="en-US"/>
          </a:p>
        </p:txBody>
      </p:sp>
    </p:spTree>
  </p:cSld>
  <p:clrMapOvr>
    <a:masterClrMapping/>
  </p:clrMapOvr>
  <p:transition spd="med" advClick="1" advTm="115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3" name=""/>
        <p:cNvGrpSpPr/>
        <p:nvPr/>
      </p:nvGrpSpPr>
      <p:grpSpPr>
        <a:xfrm>
          <a:off x="0" y="0"/>
          <a:ext cx="0" cy="0"/>
          <a:chOff x="0" y="0"/>
          <a:chExt cx="0" cy="0"/>
        </a:xfrm>
      </p:grpSpPr>
      <p:sp>
        <p:nvSpPr>
          <p:cNvPr id="1048673" name="Text 0"/>
          <p:cNvSpPr/>
          <p:nvPr/>
        </p:nvSpPr>
        <p:spPr>
          <a:xfrm>
            <a:off x="548640" y="320040"/>
            <a:ext cx="8229600" cy="548640"/>
          </a:xfrm>
          <a:prstGeom prst="rect"/>
          <a:noFill/>
        </p:spPr>
        <p:txBody>
          <a:bodyPr anchor="ctr" bIns="0" lIns="0" rIns="0" rtlCol="0" tIns="0" wrap="square"/>
          <a:p>
            <a:pPr indent="0" marL="0">
              <a:buNone/>
            </a:pPr>
            <a:r>
              <a:rPr b="1" dirty="0" sz="2800" lang="en-US">
                <a:solidFill>
                  <a:srgbClr val="1A1A2E"/>
                </a:solidFill>
                <a:latin typeface="Cambria" pitchFamily="34" charset="0"/>
                <a:ea typeface="Cambria" pitchFamily="34" charset="-122"/>
                <a:cs typeface="Cambria" pitchFamily="34" charset="-120"/>
              </a:rPr>
              <a:t>Empowering the teacher</a:t>
            </a:r>
            <a:endParaRPr dirty="0" sz="2800" lang="en-US"/>
          </a:p>
        </p:txBody>
      </p:sp>
      <p:sp>
        <p:nvSpPr>
          <p:cNvPr id="1048674" name="Shape 1"/>
          <p:cNvSpPr/>
          <p:nvPr/>
        </p:nvSpPr>
        <p:spPr>
          <a:xfrm>
            <a:off x="9646920" y="347472"/>
            <a:ext cx="2011680" cy="457200"/>
          </a:xfrm>
          <a:prstGeom prst="roundRect">
            <a:avLst>
              <a:gd name="adj" fmla="val 50000"/>
            </a:avLst>
          </a:prstGeom>
          <a:solidFill>
            <a:srgbClr val="CADCFC"/>
          </a:solidFill>
        </p:spPr>
        <p:txBody>
          <a:bodyPr/>
          <a:p>
            <a:endParaRPr lang="en-ZA"/>
          </a:p>
        </p:txBody>
      </p:sp>
      <p:sp>
        <p:nvSpPr>
          <p:cNvPr id="1048675" name="Text 2"/>
          <p:cNvSpPr/>
          <p:nvPr/>
        </p:nvSpPr>
        <p:spPr>
          <a:xfrm>
            <a:off x="9646920" y="347472"/>
            <a:ext cx="2011680" cy="457200"/>
          </a:xfrm>
          <a:prstGeom prst="rect"/>
          <a:noFill/>
        </p:spPr>
        <p:txBody>
          <a:bodyPr anchor="ctr" rtlCol="0" wrap="square"/>
          <a:p>
            <a:pPr algn="ctr" indent="0" marL="0">
              <a:buNone/>
            </a:pPr>
            <a:r>
              <a:rPr b="1" dirty="0" sz="1100" lang="en-US">
                <a:solidFill>
                  <a:srgbClr val="1E2761"/>
                </a:solidFill>
                <a:latin typeface="Calibri" pitchFamily="34" charset="0"/>
                <a:ea typeface="Calibri" pitchFamily="34" charset="-122"/>
                <a:cs typeface="Calibri" pitchFamily="34" charset="-120"/>
              </a:rPr>
              <a:t>MVP PREVIEW</a:t>
            </a:r>
            <a:endParaRPr dirty="0" sz="1100" lang="en-US"/>
          </a:p>
        </p:txBody>
      </p:sp>
      <p:pic>
        <p:nvPicPr>
          <p:cNvPr id="2097163" name="Image 0" descr="/home/claude/imgs/Teacher_dashboard_preview.png"/>
          <p:cNvPicPr>
            <a:picLocks noChangeAspect="1"/>
          </p:cNvPicPr>
          <p:nvPr/>
        </p:nvPicPr>
        <p:blipFill>
          <a:blip xmlns:r="http://schemas.openxmlformats.org/officeDocument/2006/relationships" r:embed="rId1"/>
          <a:stretch>
            <a:fillRect/>
          </a:stretch>
        </p:blipFill>
        <p:spPr>
          <a:xfrm>
            <a:off x="502920" y="1097280"/>
            <a:ext cx="7315200" cy="3842490"/>
          </a:xfrm>
          <a:prstGeom prst="rect"/>
          <a:effectLst>
            <a:outerShdw algn="bl" blurRad="101600" dir="5400000" dist="38100" rotWithShape="0">
              <a:srgbClr val="000000">
                <a:alpha val="25000"/>
              </a:srgbClr>
            </a:outerShdw>
          </a:effectLst>
        </p:spPr>
      </p:pic>
      <p:sp>
        <p:nvSpPr>
          <p:cNvPr id="1048676" name="Shape 3"/>
          <p:cNvSpPr/>
          <p:nvPr/>
        </p:nvSpPr>
        <p:spPr>
          <a:xfrm>
            <a:off x="1161288" y="2019478"/>
            <a:ext cx="621792" cy="3146882"/>
          </a:xfrm>
          <a:prstGeom prst="line"/>
          <a:noFill/>
          <a:ln w="12700">
            <a:solidFill>
              <a:srgbClr val="3B2E7E"/>
            </a:solidFill>
            <a:prstDash val="solid"/>
          </a:ln>
        </p:spPr>
        <p:txBody>
          <a:bodyPr/>
          <a:p>
            <a:endParaRPr lang="en-ZA"/>
          </a:p>
        </p:txBody>
      </p:sp>
      <p:sp>
        <p:nvSpPr>
          <p:cNvPr id="1048677" name="Shape 4"/>
          <p:cNvSpPr/>
          <p:nvPr/>
        </p:nvSpPr>
        <p:spPr>
          <a:xfrm>
            <a:off x="1120140" y="1978330"/>
            <a:ext cx="82296" cy="82296"/>
          </a:xfrm>
          <a:prstGeom prst="ellipse"/>
          <a:solidFill>
            <a:srgbClr val="3B2E7E"/>
          </a:solidFill>
          <a:ln w="12700">
            <a:solidFill>
              <a:srgbClr val="3B2E7E"/>
            </a:solidFill>
            <a:prstDash val="solid"/>
          </a:ln>
        </p:spPr>
        <p:txBody>
          <a:bodyPr/>
          <a:p>
            <a:endParaRPr lang="en-ZA"/>
          </a:p>
        </p:txBody>
      </p:sp>
      <p:sp>
        <p:nvSpPr>
          <p:cNvPr id="1048678" name="Shape 5"/>
          <p:cNvSpPr/>
          <p:nvPr/>
        </p:nvSpPr>
        <p:spPr>
          <a:xfrm>
            <a:off x="548640" y="5166360"/>
            <a:ext cx="246888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79" name="Text 6"/>
          <p:cNvSpPr/>
          <p:nvPr/>
        </p:nvSpPr>
        <p:spPr>
          <a:xfrm>
            <a:off x="640080" y="5166360"/>
            <a:ext cx="228600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Class-wide performance metrics</a:t>
            </a:r>
            <a:endParaRPr dirty="0" sz="1050" lang="en-US"/>
          </a:p>
        </p:txBody>
      </p:sp>
      <p:sp>
        <p:nvSpPr>
          <p:cNvPr id="1048680" name="Shape 7"/>
          <p:cNvSpPr/>
          <p:nvPr/>
        </p:nvSpPr>
        <p:spPr>
          <a:xfrm>
            <a:off x="2331720" y="4094422"/>
            <a:ext cx="2103120" cy="1071938"/>
          </a:xfrm>
          <a:prstGeom prst="line"/>
          <a:noFill/>
          <a:ln w="12700">
            <a:solidFill>
              <a:srgbClr val="3B2E7E"/>
            </a:solidFill>
            <a:prstDash val="solid"/>
          </a:ln>
        </p:spPr>
        <p:txBody>
          <a:bodyPr/>
          <a:p>
            <a:endParaRPr lang="en-ZA"/>
          </a:p>
        </p:txBody>
      </p:sp>
      <p:sp>
        <p:nvSpPr>
          <p:cNvPr id="1048681" name="Shape 8"/>
          <p:cNvSpPr/>
          <p:nvPr/>
        </p:nvSpPr>
        <p:spPr>
          <a:xfrm>
            <a:off x="2290572" y="4053274"/>
            <a:ext cx="82296" cy="82296"/>
          </a:xfrm>
          <a:prstGeom prst="ellipse"/>
          <a:solidFill>
            <a:srgbClr val="3B2E7E"/>
          </a:solidFill>
          <a:ln w="12700">
            <a:solidFill>
              <a:srgbClr val="3B2E7E"/>
            </a:solidFill>
            <a:prstDash val="solid"/>
          </a:ln>
        </p:spPr>
        <p:txBody>
          <a:bodyPr/>
          <a:p>
            <a:endParaRPr lang="en-ZA"/>
          </a:p>
        </p:txBody>
      </p:sp>
      <p:sp>
        <p:nvSpPr>
          <p:cNvPr id="1048682" name="Shape 9"/>
          <p:cNvSpPr/>
          <p:nvPr/>
        </p:nvSpPr>
        <p:spPr>
          <a:xfrm>
            <a:off x="3246120" y="5166360"/>
            <a:ext cx="237744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83" name="Text 10"/>
          <p:cNvSpPr/>
          <p:nvPr/>
        </p:nvSpPr>
        <p:spPr>
          <a:xfrm>
            <a:off x="3337560" y="5166360"/>
            <a:ext cx="219456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Topic-level class insights</a:t>
            </a:r>
            <a:endParaRPr dirty="0" sz="1050" lang="en-US"/>
          </a:p>
        </p:txBody>
      </p:sp>
      <p:pic>
        <p:nvPicPr>
          <p:cNvPr id="2097164" name="Image 1" descr="/home/claude/imgs/Teacher_dashboard_preview_2.png"/>
          <p:cNvPicPr>
            <a:picLocks noChangeAspect="1"/>
          </p:cNvPicPr>
          <p:nvPr/>
        </p:nvPicPr>
        <p:blipFill>
          <a:blip xmlns:r="http://schemas.openxmlformats.org/officeDocument/2006/relationships" r:embed="rId2"/>
          <a:stretch>
            <a:fillRect/>
          </a:stretch>
        </p:blipFill>
        <p:spPr>
          <a:xfrm>
            <a:off x="8092440" y="2606040"/>
            <a:ext cx="3840480" cy="2020121"/>
          </a:xfrm>
          <a:prstGeom prst="rect"/>
          <a:effectLst>
            <a:outerShdw algn="bl" blurRad="101600" dir="5400000" dist="38100" rotWithShape="0">
              <a:srgbClr val="000000">
                <a:alpha val="30000"/>
              </a:srgbClr>
            </a:outerShdw>
          </a:effectLst>
        </p:spPr>
      </p:pic>
      <p:sp>
        <p:nvSpPr>
          <p:cNvPr id="1048684" name="Shape 11"/>
          <p:cNvSpPr/>
          <p:nvPr/>
        </p:nvSpPr>
        <p:spPr>
          <a:xfrm flipV="1">
            <a:off x="10058400" y="3313082"/>
            <a:ext cx="1298448" cy="1853278"/>
          </a:xfrm>
          <a:prstGeom prst="line"/>
          <a:noFill/>
          <a:ln w="12700">
            <a:solidFill>
              <a:srgbClr val="3B2E7E"/>
            </a:solidFill>
            <a:prstDash val="solid"/>
          </a:ln>
        </p:spPr>
        <p:txBody>
          <a:bodyPr/>
          <a:p>
            <a:endParaRPr lang="en-ZA"/>
          </a:p>
        </p:txBody>
      </p:sp>
      <p:sp>
        <p:nvSpPr>
          <p:cNvPr id="1048685" name="Shape 12"/>
          <p:cNvSpPr/>
          <p:nvPr/>
        </p:nvSpPr>
        <p:spPr>
          <a:xfrm>
            <a:off x="11315700" y="3271934"/>
            <a:ext cx="82296" cy="82296"/>
          </a:xfrm>
          <a:prstGeom prst="ellipse"/>
          <a:solidFill>
            <a:srgbClr val="3B2E7E"/>
          </a:solidFill>
          <a:ln w="12700">
            <a:solidFill>
              <a:srgbClr val="3B2E7E"/>
            </a:solidFill>
            <a:prstDash val="solid"/>
          </a:ln>
        </p:spPr>
        <p:txBody>
          <a:bodyPr/>
          <a:p>
            <a:endParaRPr lang="en-ZA"/>
          </a:p>
        </p:txBody>
      </p:sp>
      <p:sp>
        <p:nvSpPr>
          <p:cNvPr id="1048686" name="Shape 13"/>
          <p:cNvSpPr/>
          <p:nvPr/>
        </p:nvSpPr>
        <p:spPr>
          <a:xfrm>
            <a:off x="8732520" y="5166360"/>
            <a:ext cx="2651760" cy="310896"/>
          </a:xfrm>
          <a:prstGeom prst="roundRect">
            <a:avLst>
              <a:gd name="adj" fmla="val 50000"/>
            </a:avLst>
          </a:prstGeom>
          <a:solidFill>
            <a:srgbClr val="3B2E7E"/>
          </a:solidFill>
          <a:effectLst>
            <a:outerShdw algn="bl" blurRad="50800" dir="5400000" dist="12700" rotWithShape="0">
              <a:srgbClr val="000000">
                <a:alpha val="20000"/>
              </a:srgbClr>
            </a:outerShdw>
          </a:effectLst>
        </p:spPr>
        <p:txBody>
          <a:bodyPr/>
          <a:p>
            <a:endParaRPr lang="en-ZA"/>
          </a:p>
        </p:txBody>
      </p:sp>
      <p:sp>
        <p:nvSpPr>
          <p:cNvPr id="1048687" name="Text 14"/>
          <p:cNvSpPr/>
          <p:nvPr/>
        </p:nvSpPr>
        <p:spPr>
          <a:xfrm>
            <a:off x="8823960" y="5166360"/>
            <a:ext cx="2468880" cy="310896"/>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Priority-ranked learner list</a:t>
            </a:r>
            <a:endParaRPr dirty="0" sz="1050" lang="en-US"/>
          </a:p>
        </p:txBody>
      </p:sp>
    </p:spTree>
  </p:cSld>
  <p:clrMapOvr>
    <a:masterClrMapping/>
  </p:clrMapOvr>
  <p:transition spd="med" advClick="1" advTm="95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56" name=""/>
        <p:cNvGrpSpPr/>
        <p:nvPr/>
      </p:nvGrpSpPr>
      <p:grpSpPr>
        <a:xfrm>
          <a:off x="0" y="0"/>
          <a:ext cx="0" cy="0"/>
          <a:chOff x="0" y="0"/>
          <a:chExt cx="0" cy="0"/>
        </a:xfrm>
      </p:grpSpPr>
      <p:sp>
        <p:nvSpPr>
          <p:cNvPr id="1048691" name="Text 0"/>
          <p:cNvSpPr/>
          <p:nvPr/>
        </p:nvSpPr>
        <p:spPr>
          <a:xfrm>
            <a:off x="548640" y="457200"/>
            <a:ext cx="11064240" cy="640080"/>
          </a:xfrm>
          <a:prstGeom prst="rect"/>
          <a:noFill/>
        </p:spPr>
        <p:txBody>
          <a:bodyPr anchor="ctr" bIns="0" lIns="0" rIns="0" rtlCol="0" tIns="0" wrap="square"/>
          <a:p>
            <a:pPr indent="0" marL="0">
              <a:buNone/>
            </a:pPr>
            <a:r>
              <a:rPr b="1" dirty="0" sz="3000" lang="en-US">
                <a:solidFill>
                  <a:srgbClr val="FFFFFF"/>
                </a:solidFill>
                <a:latin typeface="Cambria" pitchFamily="34" charset="0"/>
                <a:ea typeface="Cambria" pitchFamily="34" charset="-122"/>
                <a:cs typeface="Cambria" pitchFamily="34" charset="-120"/>
              </a:rPr>
              <a:t>The business opportunity</a:t>
            </a:r>
            <a:endParaRPr dirty="0" sz="3000" lang="en-US"/>
          </a:p>
        </p:txBody>
      </p:sp>
      <p:sp>
        <p:nvSpPr>
          <p:cNvPr id="1048692" name="Shape 1"/>
          <p:cNvSpPr/>
          <p:nvPr/>
        </p:nvSpPr>
        <p:spPr>
          <a:xfrm>
            <a:off x="609448" y="2194560"/>
            <a:ext cx="3200400" cy="2377440"/>
          </a:xfrm>
          <a:prstGeom prst="roundRect">
            <a:avLst>
              <a:gd name="adj" fmla="val 4615"/>
            </a:avLst>
          </a:prstGeom>
          <a:solidFill>
            <a:srgbClr val="3B2E7E"/>
          </a:solidFill>
        </p:spPr>
        <p:txBody>
          <a:bodyPr/>
          <a:p>
            <a:endParaRPr lang="en-ZA"/>
          </a:p>
        </p:txBody>
      </p:sp>
      <p:sp>
        <p:nvSpPr>
          <p:cNvPr id="1048693" name="Text 2"/>
          <p:cNvSpPr/>
          <p:nvPr/>
        </p:nvSpPr>
        <p:spPr>
          <a:xfrm>
            <a:off x="609448" y="2423160"/>
            <a:ext cx="3200400" cy="822960"/>
          </a:xfrm>
          <a:prstGeom prst="rect"/>
          <a:noFill/>
        </p:spPr>
        <p:txBody>
          <a:bodyPr anchor="ctr" rtlCol="0" wrap="square"/>
          <a:p>
            <a:pPr algn="ctr" indent="0" marL="0">
              <a:buNone/>
            </a:pPr>
            <a:r>
              <a:rPr dirty="0" sz="3600" lang="en-US">
                <a:solidFill>
                  <a:srgbClr val="000000"/>
                </a:solidFill>
              </a:rPr>
              <a:t>🏫</a:t>
            </a:r>
            <a:endParaRPr dirty="0" sz="3600" lang="en-US"/>
          </a:p>
        </p:txBody>
      </p:sp>
      <p:sp>
        <p:nvSpPr>
          <p:cNvPr id="1048694" name="Text 3"/>
          <p:cNvSpPr/>
          <p:nvPr/>
        </p:nvSpPr>
        <p:spPr>
          <a:xfrm>
            <a:off x="838048" y="3291840"/>
            <a:ext cx="2743200" cy="640080"/>
          </a:xfrm>
          <a:prstGeom prst="rect"/>
          <a:noFill/>
        </p:spPr>
        <p:txBody>
          <a:bodyPr anchor="ctr" bIns="0" lIns="0" rIns="0" rtlCol="0" tIns="0" wrap="square"/>
          <a:p>
            <a:pPr algn="ctr" indent="0" marL="0">
              <a:buNone/>
            </a:pPr>
            <a:r>
              <a:rPr b="1" dirty="0" sz="1600" lang="en-US">
                <a:solidFill>
                  <a:srgbClr val="FFFFFF"/>
                </a:solidFill>
                <a:latin typeface="Cambria" pitchFamily="34" charset="0"/>
                <a:ea typeface="Cambria" pitchFamily="34" charset="-122"/>
                <a:cs typeface="Cambria" pitchFamily="34" charset="-120"/>
              </a:rPr>
              <a:t>Schools Subscribe</a:t>
            </a:r>
            <a:endParaRPr dirty="0" sz="1600" lang="en-US"/>
          </a:p>
        </p:txBody>
      </p:sp>
      <p:sp>
        <p:nvSpPr>
          <p:cNvPr id="1048695" name="Text 4"/>
          <p:cNvSpPr/>
          <p:nvPr/>
        </p:nvSpPr>
        <p:spPr>
          <a:xfrm>
            <a:off x="838048" y="3931920"/>
            <a:ext cx="2743200" cy="457200"/>
          </a:xfrm>
          <a:prstGeom prst="rect"/>
          <a:noFill/>
        </p:spPr>
        <p:txBody>
          <a:bodyPr anchor="ctr" bIns="0" lIns="0" rIns="0" rtlCol="0" tIns="0" wrap="square"/>
          <a:p>
            <a:pPr algn="ctr" indent="0" marL="0">
              <a:buNone/>
            </a:pPr>
            <a:r>
              <a:rPr dirty="0" sz="1200" lang="en-US">
                <a:solidFill>
                  <a:srgbClr val="CADCFC"/>
                </a:solidFill>
                <a:latin typeface="Calibri" pitchFamily="34" charset="0"/>
                <a:ea typeface="Calibri" pitchFamily="34" charset="-122"/>
                <a:cs typeface="Calibri" pitchFamily="34" charset="-120"/>
              </a:rPr>
              <a:t>Primary customer</a:t>
            </a:r>
            <a:endParaRPr dirty="0" sz="1200" lang="en-US"/>
          </a:p>
        </p:txBody>
      </p:sp>
      <p:sp>
        <p:nvSpPr>
          <p:cNvPr id="1048696" name="Text 5"/>
          <p:cNvSpPr/>
          <p:nvPr/>
        </p:nvSpPr>
        <p:spPr>
          <a:xfrm>
            <a:off x="3809848" y="3063240"/>
            <a:ext cx="685800" cy="548640"/>
          </a:xfrm>
          <a:prstGeom prst="rect"/>
          <a:noFill/>
        </p:spPr>
        <p:txBody>
          <a:bodyPr anchor="ctr" rtlCol="0" wrap="square"/>
          <a:p>
            <a:pPr algn="ctr" indent="0" marL="0">
              <a:buNone/>
            </a:pPr>
            <a:r>
              <a:rPr b="1" dirty="0" sz="2400" lang="en-US">
                <a:solidFill>
                  <a:srgbClr val="CADCFC"/>
                </a:solidFill>
              </a:rPr>
              <a:t>→</a:t>
            </a:r>
            <a:endParaRPr dirty="0" sz="2400" lang="en-US"/>
          </a:p>
        </p:txBody>
      </p:sp>
      <p:sp>
        <p:nvSpPr>
          <p:cNvPr id="1048697" name="Shape 6"/>
          <p:cNvSpPr/>
          <p:nvPr/>
        </p:nvSpPr>
        <p:spPr>
          <a:xfrm>
            <a:off x="4495648" y="2194560"/>
            <a:ext cx="3200400" cy="2377440"/>
          </a:xfrm>
          <a:prstGeom prst="roundRect">
            <a:avLst>
              <a:gd name="adj" fmla="val 4615"/>
            </a:avLst>
          </a:prstGeom>
          <a:solidFill>
            <a:srgbClr val="3B2E7E"/>
          </a:solidFill>
        </p:spPr>
        <p:txBody>
          <a:bodyPr/>
          <a:p>
            <a:endParaRPr lang="en-ZA"/>
          </a:p>
        </p:txBody>
      </p:sp>
      <p:sp>
        <p:nvSpPr>
          <p:cNvPr id="1048698" name="Text 7"/>
          <p:cNvSpPr/>
          <p:nvPr/>
        </p:nvSpPr>
        <p:spPr>
          <a:xfrm>
            <a:off x="4495648" y="2423160"/>
            <a:ext cx="3200400" cy="822960"/>
          </a:xfrm>
          <a:prstGeom prst="rect"/>
          <a:noFill/>
        </p:spPr>
        <p:txBody>
          <a:bodyPr anchor="ctr" rtlCol="0" wrap="square"/>
          <a:p>
            <a:pPr algn="ctr" indent="0" marL="0">
              <a:buNone/>
            </a:pPr>
            <a:r>
              <a:rPr dirty="0" sz="3600" lang="en-US">
                <a:solidFill>
                  <a:srgbClr val="000000"/>
                </a:solidFill>
              </a:rPr>
              <a:t>📈</a:t>
            </a:r>
            <a:endParaRPr dirty="0" sz="3600" lang="en-US"/>
          </a:p>
        </p:txBody>
      </p:sp>
      <p:sp>
        <p:nvSpPr>
          <p:cNvPr id="1048699" name="Text 8"/>
          <p:cNvSpPr/>
          <p:nvPr/>
        </p:nvSpPr>
        <p:spPr>
          <a:xfrm>
            <a:off x="4724248" y="3291840"/>
            <a:ext cx="2743200" cy="640080"/>
          </a:xfrm>
          <a:prstGeom prst="rect"/>
          <a:noFill/>
        </p:spPr>
        <p:txBody>
          <a:bodyPr anchor="ctr" bIns="0" lIns="0" rIns="0" rtlCol="0" tIns="0" wrap="square"/>
          <a:p>
            <a:pPr algn="ctr" indent="0" marL="0">
              <a:buNone/>
            </a:pPr>
            <a:r>
              <a:rPr b="1" dirty="0" sz="1600" lang="en-US">
                <a:solidFill>
                  <a:srgbClr val="FFFFFF"/>
                </a:solidFill>
                <a:latin typeface="Cambria" pitchFamily="34" charset="0"/>
                <a:ea typeface="Cambria" pitchFamily="34" charset="-122"/>
                <a:cs typeface="Cambria" pitchFamily="34" charset="-120"/>
              </a:rPr>
              <a:t>GapWise Powers Learning</a:t>
            </a:r>
            <a:endParaRPr dirty="0" sz="1600" lang="en-US"/>
          </a:p>
        </p:txBody>
      </p:sp>
      <p:sp>
        <p:nvSpPr>
          <p:cNvPr id="1048700" name="Text 9"/>
          <p:cNvSpPr/>
          <p:nvPr/>
        </p:nvSpPr>
        <p:spPr>
          <a:xfrm>
            <a:off x="4724248" y="3931920"/>
            <a:ext cx="2743200" cy="457200"/>
          </a:xfrm>
          <a:prstGeom prst="rect"/>
          <a:noFill/>
        </p:spPr>
        <p:txBody>
          <a:bodyPr anchor="ctr" bIns="0" lIns="0" rIns="0" rtlCol="0" tIns="0" wrap="square"/>
          <a:p>
            <a:pPr algn="ctr" indent="0" marL="0">
              <a:buNone/>
            </a:pPr>
            <a:r>
              <a:rPr dirty="0" sz="1200" lang="en-US">
                <a:solidFill>
                  <a:srgbClr val="CADCFC"/>
                </a:solidFill>
                <a:latin typeface="Calibri" pitchFamily="34" charset="0"/>
                <a:ea typeface="Calibri" pitchFamily="34" charset="-122"/>
                <a:cs typeface="Calibri" pitchFamily="34" charset="-120"/>
              </a:rPr>
              <a:t>Learners &amp; teachers benefit</a:t>
            </a:r>
            <a:endParaRPr dirty="0" sz="1200" lang="en-US"/>
          </a:p>
        </p:txBody>
      </p:sp>
      <p:sp>
        <p:nvSpPr>
          <p:cNvPr id="1048701" name="Text 10"/>
          <p:cNvSpPr/>
          <p:nvPr/>
        </p:nvSpPr>
        <p:spPr>
          <a:xfrm>
            <a:off x="7696048" y="3063240"/>
            <a:ext cx="685800" cy="548640"/>
          </a:xfrm>
          <a:prstGeom prst="rect"/>
          <a:noFill/>
        </p:spPr>
        <p:txBody>
          <a:bodyPr anchor="ctr" rtlCol="0" wrap="square"/>
          <a:p>
            <a:pPr algn="ctr" indent="0" marL="0">
              <a:buNone/>
            </a:pPr>
            <a:r>
              <a:rPr b="1" dirty="0" sz="2400" lang="en-US">
                <a:solidFill>
                  <a:srgbClr val="CADCFC"/>
                </a:solidFill>
              </a:rPr>
              <a:t>→</a:t>
            </a:r>
            <a:endParaRPr dirty="0" sz="2400" lang="en-US"/>
          </a:p>
        </p:txBody>
      </p:sp>
      <p:sp>
        <p:nvSpPr>
          <p:cNvPr id="1048702" name="Shape 11"/>
          <p:cNvSpPr/>
          <p:nvPr/>
        </p:nvSpPr>
        <p:spPr>
          <a:xfrm>
            <a:off x="8381848" y="2194560"/>
            <a:ext cx="3200400" cy="2377440"/>
          </a:xfrm>
          <a:prstGeom prst="roundRect">
            <a:avLst>
              <a:gd name="adj" fmla="val 4615"/>
            </a:avLst>
          </a:prstGeom>
          <a:solidFill>
            <a:srgbClr val="3B2E7E"/>
          </a:solidFill>
        </p:spPr>
        <p:txBody>
          <a:bodyPr/>
          <a:p>
            <a:endParaRPr lang="en-ZA"/>
          </a:p>
        </p:txBody>
      </p:sp>
      <p:sp>
        <p:nvSpPr>
          <p:cNvPr id="1048703" name="Text 12"/>
          <p:cNvSpPr/>
          <p:nvPr/>
        </p:nvSpPr>
        <p:spPr>
          <a:xfrm>
            <a:off x="8381848" y="2423160"/>
            <a:ext cx="3200400" cy="822960"/>
          </a:xfrm>
          <a:prstGeom prst="rect"/>
          <a:noFill/>
        </p:spPr>
        <p:txBody>
          <a:bodyPr anchor="ctr" rtlCol="0" wrap="square"/>
          <a:p>
            <a:pPr algn="ctr" indent="0" marL="0">
              <a:buNone/>
            </a:pPr>
            <a:r>
              <a:rPr dirty="0" sz="3600" lang="en-US">
                <a:solidFill>
                  <a:srgbClr val="000000"/>
                </a:solidFill>
              </a:rPr>
              <a:t>🤝</a:t>
            </a:r>
            <a:endParaRPr dirty="0" sz="3600" lang="en-US"/>
          </a:p>
        </p:txBody>
      </p:sp>
      <p:sp>
        <p:nvSpPr>
          <p:cNvPr id="1048704" name="Text 13"/>
          <p:cNvSpPr/>
          <p:nvPr/>
        </p:nvSpPr>
        <p:spPr>
          <a:xfrm>
            <a:off x="8610448" y="3291840"/>
            <a:ext cx="2743200" cy="640080"/>
          </a:xfrm>
          <a:prstGeom prst="rect"/>
          <a:noFill/>
        </p:spPr>
        <p:txBody>
          <a:bodyPr anchor="ctr" bIns="0" lIns="0" rIns="0" rtlCol="0" tIns="0" wrap="square"/>
          <a:p>
            <a:pPr algn="ctr" indent="0" marL="0">
              <a:buNone/>
            </a:pPr>
            <a:r>
              <a:rPr b="1" dirty="0" sz="1600" lang="en-US">
                <a:solidFill>
                  <a:srgbClr val="FFFFFF"/>
                </a:solidFill>
                <a:latin typeface="Cambria" pitchFamily="34" charset="0"/>
                <a:ea typeface="Cambria" pitchFamily="34" charset="-122"/>
                <a:cs typeface="Cambria" pitchFamily="34" charset="-120"/>
              </a:rPr>
              <a:t>Commercial Schools Sponsor</a:t>
            </a:r>
            <a:endParaRPr dirty="0" sz="1600" lang="en-US"/>
          </a:p>
        </p:txBody>
      </p:sp>
      <p:sp>
        <p:nvSpPr>
          <p:cNvPr id="1048705" name="Text 14"/>
          <p:cNvSpPr/>
          <p:nvPr/>
        </p:nvSpPr>
        <p:spPr>
          <a:xfrm>
            <a:off x="8610448" y="3931920"/>
            <a:ext cx="2743200" cy="457200"/>
          </a:xfrm>
          <a:prstGeom prst="rect"/>
          <a:noFill/>
        </p:spPr>
        <p:txBody>
          <a:bodyPr anchor="ctr" bIns="0" lIns="0" rIns="0" rtlCol="0" tIns="0" wrap="square"/>
          <a:p>
            <a:pPr algn="ctr" indent="0" marL="0">
              <a:buNone/>
            </a:pPr>
            <a:r>
              <a:rPr dirty="0" sz="1200" lang="en-US">
                <a:solidFill>
                  <a:srgbClr val="CADCFC"/>
                </a:solidFill>
                <a:latin typeface="Calibri" pitchFamily="34" charset="0"/>
                <a:ea typeface="Calibri" pitchFamily="34" charset="-122"/>
                <a:cs typeface="Calibri" pitchFamily="34" charset="-120"/>
              </a:rPr>
              <a:t>Under-resourced schools</a:t>
            </a:r>
            <a:endParaRPr dirty="0" sz="1200" lang="en-US"/>
          </a:p>
        </p:txBody>
      </p:sp>
      <p:sp>
        <p:nvSpPr>
          <p:cNvPr id="1048706" name="Text 15"/>
          <p:cNvSpPr/>
          <p:nvPr/>
        </p:nvSpPr>
        <p:spPr>
          <a:xfrm>
            <a:off x="548640" y="5120640"/>
            <a:ext cx="11064240" cy="548640"/>
          </a:xfrm>
          <a:prstGeom prst="rect"/>
          <a:noFill/>
        </p:spPr>
        <p:txBody>
          <a:bodyPr anchor="ctr" bIns="0" lIns="0" rIns="0" rtlCol="0" tIns="0" wrap="square"/>
          <a:p>
            <a:pPr algn="ctr" indent="0" marL="0">
              <a:buNone/>
            </a:pPr>
            <a:r>
              <a:rPr dirty="0" sz="1700" i="1" lang="en-US">
                <a:solidFill>
                  <a:srgbClr val="CADCFC"/>
                </a:solidFill>
                <a:latin typeface="Calibri" pitchFamily="34" charset="0"/>
                <a:ea typeface="Calibri" pitchFamily="34" charset="-122"/>
                <a:cs typeface="Calibri" pitchFamily="34" charset="-120"/>
              </a:rPr>
              <a:t>Schools subscribe. GapWise scales. Sponsorship makes it fair.</a:t>
            </a:r>
            <a:endParaRPr dirty="0" sz="1700" lang="en-US"/>
          </a:p>
        </p:txBody>
      </p:sp>
    </p:spTree>
  </p:cSld>
  <p:clrMapOvr>
    <a:masterClrMapping/>
  </p:clrMapOvr>
  <p:transition spd="med" advClick="1" advTm="105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59" name=""/>
        <p:cNvGrpSpPr/>
        <p:nvPr/>
      </p:nvGrpSpPr>
      <p:grpSpPr>
        <a:xfrm>
          <a:off x="0" y="0"/>
          <a:ext cx="0" cy="0"/>
          <a:chOff x="0" y="0"/>
          <a:chExt cx="0" cy="0"/>
        </a:xfrm>
      </p:grpSpPr>
      <p:pic>
        <p:nvPicPr>
          <p:cNvPr id="2097165" name="Image 0" descr="/home/claude/imgs/company_logo.jpeg"/>
          <p:cNvPicPr>
            <a:picLocks noChangeAspect="1"/>
          </p:cNvPicPr>
          <p:nvPr/>
        </p:nvPicPr>
        <p:blipFill>
          <a:blip xmlns:r="http://schemas.openxmlformats.org/officeDocument/2006/relationships" r:embed="rId1"/>
          <a:stretch>
            <a:fillRect/>
          </a:stretch>
        </p:blipFill>
        <p:spPr>
          <a:xfrm>
            <a:off x="5501488" y="548640"/>
            <a:ext cx="1188720" cy="742950"/>
          </a:xfrm>
          <a:prstGeom prst="rect"/>
        </p:spPr>
      </p:pic>
      <p:sp>
        <p:nvSpPr>
          <p:cNvPr id="1048710" name="Text 0"/>
          <p:cNvSpPr/>
          <p:nvPr/>
        </p:nvSpPr>
        <p:spPr>
          <a:xfrm>
            <a:off x="914400" y="2286000"/>
            <a:ext cx="10360152" cy="640080"/>
          </a:xfrm>
          <a:prstGeom prst="rect"/>
          <a:noFill/>
        </p:spPr>
        <p:txBody>
          <a:bodyPr anchor="ctr" bIns="0" lIns="0" rIns="0" rtlCol="0" tIns="0" wrap="square"/>
          <a:p>
            <a:pPr algn="ctr" indent="0" marL="0">
              <a:buNone/>
            </a:pPr>
            <a:r>
              <a:rPr b="1" dirty="0" sz="2600" lang="en-US">
                <a:solidFill>
                  <a:srgbClr val="FFFFFF"/>
                </a:solidFill>
                <a:latin typeface="Cambria" pitchFamily="34" charset="0"/>
                <a:ea typeface="Cambria" pitchFamily="34" charset="-122"/>
                <a:cs typeface="Cambria" pitchFamily="34" charset="-120"/>
              </a:rPr>
              <a:t>Every learner deserves to know exactly what to learn next.</a:t>
            </a:r>
            <a:endParaRPr dirty="0" sz="2600" lang="en-US"/>
          </a:p>
        </p:txBody>
      </p:sp>
      <p:sp>
        <p:nvSpPr>
          <p:cNvPr id="1048711" name="Text 1"/>
          <p:cNvSpPr/>
          <p:nvPr/>
        </p:nvSpPr>
        <p:spPr>
          <a:xfrm>
            <a:off x="914400" y="2926080"/>
            <a:ext cx="10360152" cy="548640"/>
          </a:xfrm>
          <a:prstGeom prst="rect"/>
          <a:noFill/>
        </p:spPr>
        <p:txBody>
          <a:bodyPr anchor="ctr" bIns="0" lIns="0" rIns="0" rtlCol="0" tIns="0" wrap="square"/>
          <a:p>
            <a:pPr algn="ctr" indent="0" marL="0">
              <a:buNone/>
            </a:pPr>
            <a:r>
              <a:rPr dirty="0" sz="1700" i="1" lang="en-US">
                <a:solidFill>
                  <a:srgbClr val="CADCFC"/>
                </a:solidFill>
                <a:latin typeface="Calibri" pitchFamily="34" charset="0"/>
                <a:ea typeface="Calibri" pitchFamily="34" charset="-122"/>
                <a:cs typeface="Calibri" pitchFamily="34" charset="-120"/>
              </a:rPr>
              <a:t>GapWise: Closing Learning Gaps Through Intelligent Diagnostics.</a:t>
            </a:r>
            <a:endParaRPr dirty="0" sz="1700" lang="en-US"/>
          </a:p>
        </p:txBody>
      </p:sp>
      <p:sp>
        <p:nvSpPr>
          <p:cNvPr id="1048712" name="Shape 2"/>
          <p:cNvSpPr/>
          <p:nvPr/>
        </p:nvSpPr>
        <p:spPr>
          <a:xfrm>
            <a:off x="1572768" y="4114800"/>
            <a:ext cx="164592" cy="164592"/>
          </a:xfrm>
          <a:prstGeom prst="ellipse"/>
          <a:solidFill>
            <a:srgbClr val="4ADE80"/>
          </a:solidFill>
          <a:ln w="12700">
            <a:solidFill>
              <a:srgbClr val="FFFFFF"/>
            </a:solidFill>
            <a:prstDash val="solid"/>
          </a:ln>
        </p:spPr>
        <p:txBody>
          <a:bodyPr/>
          <a:p>
            <a:endParaRPr lang="en-ZA"/>
          </a:p>
        </p:txBody>
      </p:sp>
      <p:sp>
        <p:nvSpPr>
          <p:cNvPr id="1048713" name="Shape 3"/>
          <p:cNvSpPr/>
          <p:nvPr/>
        </p:nvSpPr>
        <p:spPr>
          <a:xfrm>
            <a:off x="1737360" y="4197096"/>
            <a:ext cx="2048256" cy="0"/>
          </a:xfrm>
          <a:prstGeom prst="line"/>
          <a:noFill/>
          <a:ln w="19050">
            <a:solidFill>
              <a:srgbClr val="3B4A8C"/>
            </a:solidFill>
            <a:prstDash val="solid"/>
          </a:ln>
        </p:spPr>
        <p:txBody>
          <a:bodyPr/>
          <a:p>
            <a:endParaRPr lang="en-ZA"/>
          </a:p>
        </p:txBody>
      </p:sp>
      <p:sp>
        <p:nvSpPr>
          <p:cNvPr id="1048714" name="Text 4"/>
          <p:cNvSpPr/>
          <p:nvPr/>
        </p:nvSpPr>
        <p:spPr>
          <a:xfrm>
            <a:off x="548640" y="4389120"/>
            <a:ext cx="2212848" cy="457200"/>
          </a:xfrm>
          <a:prstGeom prst="rect"/>
          <a:noFill/>
        </p:spPr>
        <p:txBody>
          <a:bodyPr anchor="ctr" bIns="0" lIns="0" rIns="0" rtlCol="0" tIns="0" wrap="square"/>
          <a:p>
            <a:pPr algn="ctr" indent="0" marL="0">
              <a:buNone/>
            </a:pPr>
            <a:r>
              <a:rPr b="1" dirty="0" sz="1100" lang="en-US">
                <a:solidFill>
                  <a:srgbClr val="4ADE80"/>
                </a:solidFill>
                <a:latin typeface="Calibri" pitchFamily="34" charset="0"/>
                <a:ea typeface="Calibri" pitchFamily="34" charset="-122"/>
                <a:cs typeface="Calibri" pitchFamily="34" charset="-120"/>
              </a:rPr>
              <a:t>Mathematics</a:t>
            </a:r>
            <a:endParaRPr dirty="0" sz="1100" lang="en-US"/>
          </a:p>
        </p:txBody>
      </p:sp>
      <p:sp>
        <p:nvSpPr>
          <p:cNvPr id="1048715" name="Shape 5"/>
          <p:cNvSpPr/>
          <p:nvPr/>
        </p:nvSpPr>
        <p:spPr>
          <a:xfrm>
            <a:off x="3785616" y="4114800"/>
            <a:ext cx="164592" cy="164592"/>
          </a:xfrm>
          <a:prstGeom prst="ellipse"/>
          <a:solidFill>
            <a:srgbClr val="3B4A8C"/>
          </a:solidFill>
          <a:ln w="12700">
            <a:solidFill>
              <a:srgbClr val="FFFFFF"/>
            </a:solidFill>
            <a:prstDash val="solid"/>
          </a:ln>
        </p:spPr>
        <p:txBody>
          <a:bodyPr/>
          <a:p>
            <a:endParaRPr lang="en-ZA"/>
          </a:p>
        </p:txBody>
      </p:sp>
      <p:sp>
        <p:nvSpPr>
          <p:cNvPr id="1048716" name="Shape 6"/>
          <p:cNvSpPr/>
          <p:nvPr/>
        </p:nvSpPr>
        <p:spPr>
          <a:xfrm>
            <a:off x="3950208" y="4197096"/>
            <a:ext cx="2048256" cy="0"/>
          </a:xfrm>
          <a:prstGeom prst="line"/>
          <a:noFill/>
          <a:ln w="19050">
            <a:solidFill>
              <a:srgbClr val="3B4A8C"/>
            </a:solidFill>
            <a:prstDash val="solid"/>
          </a:ln>
        </p:spPr>
        <p:txBody>
          <a:bodyPr/>
          <a:p>
            <a:endParaRPr lang="en-ZA"/>
          </a:p>
        </p:txBody>
      </p:sp>
      <p:sp>
        <p:nvSpPr>
          <p:cNvPr id="1048717" name="Text 7"/>
          <p:cNvSpPr/>
          <p:nvPr/>
        </p:nvSpPr>
        <p:spPr>
          <a:xfrm>
            <a:off x="2761488" y="4389120"/>
            <a:ext cx="2212848" cy="457200"/>
          </a:xfrm>
          <a:prstGeom prst="rect"/>
          <a:noFill/>
        </p:spPr>
        <p:txBody>
          <a:bodyPr anchor="ctr" bIns="0" lIns="0" rIns="0" rtlCol="0" tIns="0" wrap="square"/>
          <a:p>
            <a:pPr algn="ctr" indent="0" marL="0">
              <a:buNone/>
            </a:pPr>
            <a:r>
              <a:rPr dirty="0" sz="1100" lang="en-US">
                <a:solidFill>
                  <a:srgbClr val="CADCFC"/>
                </a:solidFill>
                <a:latin typeface="Calibri" pitchFamily="34" charset="0"/>
                <a:ea typeface="Calibri" pitchFamily="34" charset="-122"/>
                <a:cs typeface="Calibri" pitchFamily="34" charset="-120"/>
              </a:rPr>
              <a:t>More CAPS Subjects</a:t>
            </a:r>
            <a:endParaRPr dirty="0" sz="1100" lang="en-US"/>
          </a:p>
        </p:txBody>
      </p:sp>
      <p:sp>
        <p:nvSpPr>
          <p:cNvPr id="1048718" name="Shape 8"/>
          <p:cNvSpPr/>
          <p:nvPr/>
        </p:nvSpPr>
        <p:spPr>
          <a:xfrm>
            <a:off x="5998464" y="4114800"/>
            <a:ext cx="164592" cy="164592"/>
          </a:xfrm>
          <a:prstGeom prst="ellipse"/>
          <a:solidFill>
            <a:srgbClr val="3B4A8C"/>
          </a:solidFill>
          <a:ln w="12700">
            <a:solidFill>
              <a:srgbClr val="FFFFFF"/>
            </a:solidFill>
            <a:prstDash val="solid"/>
          </a:ln>
        </p:spPr>
        <p:txBody>
          <a:bodyPr/>
          <a:p>
            <a:endParaRPr lang="en-ZA"/>
          </a:p>
        </p:txBody>
      </p:sp>
      <p:sp>
        <p:nvSpPr>
          <p:cNvPr id="1048719" name="Shape 9"/>
          <p:cNvSpPr/>
          <p:nvPr/>
        </p:nvSpPr>
        <p:spPr>
          <a:xfrm>
            <a:off x="6163056" y="4197096"/>
            <a:ext cx="2048256" cy="0"/>
          </a:xfrm>
          <a:prstGeom prst="line"/>
          <a:noFill/>
          <a:ln w="19050">
            <a:solidFill>
              <a:srgbClr val="3B4A8C"/>
            </a:solidFill>
            <a:prstDash val="solid"/>
          </a:ln>
        </p:spPr>
        <p:txBody>
          <a:bodyPr/>
          <a:p>
            <a:endParaRPr lang="en-ZA"/>
          </a:p>
        </p:txBody>
      </p:sp>
      <p:sp>
        <p:nvSpPr>
          <p:cNvPr id="1048720" name="Text 10"/>
          <p:cNvSpPr/>
          <p:nvPr/>
        </p:nvSpPr>
        <p:spPr>
          <a:xfrm>
            <a:off x="4974336" y="4389120"/>
            <a:ext cx="2212848" cy="457200"/>
          </a:xfrm>
          <a:prstGeom prst="rect"/>
          <a:noFill/>
        </p:spPr>
        <p:txBody>
          <a:bodyPr anchor="ctr" bIns="0" lIns="0" rIns="0" rtlCol="0" tIns="0" wrap="square"/>
          <a:p>
            <a:pPr algn="ctr" indent="0" marL="0">
              <a:buNone/>
            </a:pPr>
            <a:r>
              <a:rPr dirty="0" sz="1100" lang="en-US">
                <a:solidFill>
                  <a:srgbClr val="CADCFC"/>
                </a:solidFill>
                <a:latin typeface="Calibri" pitchFamily="34" charset="0"/>
                <a:ea typeface="Calibri" pitchFamily="34" charset="-122"/>
                <a:cs typeface="Calibri" pitchFamily="34" charset="-120"/>
              </a:rPr>
              <a:t>More Grades</a:t>
            </a:r>
            <a:endParaRPr dirty="0" sz="1100" lang="en-US"/>
          </a:p>
        </p:txBody>
      </p:sp>
      <p:sp>
        <p:nvSpPr>
          <p:cNvPr id="1048721" name="Shape 11"/>
          <p:cNvSpPr/>
          <p:nvPr/>
        </p:nvSpPr>
        <p:spPr>
          <a:xfrm>
            <a:off x="8211312" y="4114800"/>
            <a:ext cx="164592" cy="164592"/>
          </a:xfrm>
          <a:prstGeom prst="ellipse"/>
          <a:solidFill>
            <a:srgbClr val="3B4A8C"/>
          </a:solidFill>
          <a:ln w="12700">
            <a:solidFill>
              <a:srgbClr val="FFFFFF"/>
            </a:solidFill>
            <a:prstDash val="solid"/>
          </a:ln>
        </p:spPr>
        <p:txBody>
          <a:bodyPr/>
          <a:p>
            <a:endParaRPr lang="en-ZA"/>
          </a:p>
        </p:txBody>
      </p:sp>
      <p:sp>
        <p:nvSpPr>
          <p:cNvPr id="1048722" name="Shape 12"/>
          <p:cNvSpPr/>
          <p:nvPr/>
        </p:nvSpPr>
        <p:spPr>
          <a:xfrm>
            <a:off x="8375904" y="4197096"/>
            <a:ext cx="2048256" cy="0"/>
          </a:xfrm>
          <a:prstGeom prst="line"/>
          <a:noFill/>
          <a:ln w="19050">
            <a:solidFill>
              <a:srgbClr val="3B4A8C"/>
            </a:solidFill>
            <a:prstDash val="solid"/>
          </a:ln>
        </p:spPr>
        <p:txBody>
          <a:bodyPr/>
          <a:p>
            <a:endParaRPr lang="en-ZA"/>
          </a:p>
        </p:txBody>
      </p:sp>
      <p:sp>
        <p:nvSpPr>
          <p:cNvPr id="1048723" name="Text 13"/>
          <p:cNvSpPr/>
          <p:nvPr/>
        </p:nvSpPr>
        <p:spPr>
          <a:xfrm>
            <a:off x="7187184" y="4389120"/>
            <a:ext cx="2212848" cy="457200"/>
          </a:xfrm>
          <a:prstGeom prst="rect"/>
          <a:noFill/>
        </p:spPr>
        <p:txBody>
          <a:bodyPr anchor="ctr" bIns="0" lIns="0" rIns="0" rtlCol="0" tIns="0" wrap="square"/>
          <a:p>
            <a:pPr algn="ctr" indent="0" marL="0">
              <a:buNone/>
            </a:pPr>
            <a:r>
              <a:rPr dirty="0" sz="1100" lang="en-US">
                <a:solidFill>
                  <a:srgbClr val="CADCFC"/>
                </a:solidFill>
                <a:latin typeface="Calibri" pitchFamily="34" charset="0"/>
                <a:ea typeface="Calibri" pitchFamily="34" charset="-122"/>
                <a:cs typeface="Calibri" pitchFamily="34" charset="-120"/>
              </a:rPr>
              <a:t>AI-Assisted Recs</a:t>
            </a:r>
            <a:endParaRPr dirty="0" sz="1100" lang="en-US"/>
          </a:p>
        </p:txBody>
      </p:sp>
      <p:sp>
        <p:nvSpPr>
          <p:cNvPr id="1048724" name="Shape 14"/>
          <p:cNvSpPr/>
          <p:nvPr/>
        </p:nvSpPr>
        <p:spPr>
          <a:xfrm>
            <a:off x="10424160" y="4114800"/>
            <a:ext cx="164592" cy="164592"/>
          </a:xfrm>
          <a:prstGeom prst="ellipse"/>
          <a:solidFill>
            <a:srgbClr val="3B4A8C"/>
          </a:solidFill>
          <a:ln w="12700">
            <a:solidFill>
              <a:srgbClr val="FFFFFF"/>
            </a:solidFill>
            <a:prstDash val="solid"/>
          </a:ln>
        </p:spPr>
        <p:txBody>
          <a:bodyPr/>
          <a:p>
            <a:endParaRPr lang="en-ZA"/>
          </a:p>
        </p:txBody>
      </p:sp>
      <p:sp>
        <p:nvSpPr>
          <p:cNvPr id="1048725" name="Text 15"/>
          <p:cNvSpPr/>
          <p:nvPr/>
        </p:nvSpPr>
        <p:spPr>
          <a:xfrm>
            <a:off x="9400032" y="4389120"/>
            <a:ext cx="2212848" cy="457200"/>
          </a:xfrm>
          <a:prstGeom prst="rect"/>
          <a:noFill/>
        </p:spPr>
        <p:txBody>
          <a:bodyPr anchor="ctr" bIns="0" lIns="0" rIns="0" rtlCol="0" tIns="0" wrap="square"/>
          <a:p>
            <a:pPr algn="ctr" indent="0" marL="0">
              <a:buNone/>
            </a:pPr>
            <a:r>
              <a:rPr dirty="0" sz="1100" lang="en-US">
                <a:solidFill>
                  <a:srgbClr val="CADCFC"/>
                </a:solidFill>
                <a:latin typeface="Calibri" pitchFamily="34" charset="0"/>
                <a:ea typeface="Calibri" pitchFamily="34" charset="-122"/>
                <a:cs typeface="Calibri" pitchFamily="34" charset="-120"/>
              </a:rPr>
              <a:t>School Analytics</a:t>
            </a:r>
            <a:endParaRPr dirty="0" sz="1100" lang="en-US"/>
          </a:p>
        </p:txBody>
      </p:sp>
    </p:spTree>
  </p:cSld>
  <p:clrMapOvr>
    <a:masterClrMapping/>
  </p:clrMapOvr>
  <p:transition spd="med" advClick="1" advTm="100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2" name=""/>
        <p:cNvGrpSpPr/>
        <p:nvPr/>
      </p:nvGrpSpPr>
      <p:grpSpPr>
        <a:xfrm>
          <a:off x="0" y="0"/>
          <a:ext cx="0" cy="0"/>
          <a:chOff x="0" y="0"/>
          <a:chExt cx="0" cy="0"/>
        </a:xfrm>
      </p:grpSpPr>
      <p:sp useBgFill="1">
        <p:nvSpPr>
          <p:cNvPr id="1048729" name="Rectangle 15"/>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30" name="Freeform: Shape 16"/>
          <p:cNvSpPr>
            <a:spLocks noChangeAspect="1" noMove="1" noResize="1" noRot="1" noGrp="1" noAdjustHandles="1" noEditPoints="1" noChangeArrowheads="1" noChangeShapeType="1" noTextEdit="1"/>
          </p:cNvSpPr>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a:endParaRPr lang="en-US"/>
          </a:p>
        </p:txBody>
      </p:sp>
      <p:sp>
        <p:nvSpPr>
          <p:cNvPr id="1048731" name="Right Triangle 17"/>
          <p:cNvSpPr>
            <a:spLocks noChangeAspect="1" noMove="1" noResize="1" noRot="1" noGrp="1" noAdjustHandles="1" noEditPoints="1" noChangeArrowheads="1" noChangeShapeType="1" noTextEdit="1"/>
          </p:cNvSpPr>
          <p:nvPr/>
        </p:nvSpPr>
        <p:spPr>
          <a:xfrm flipH="1">
            <a:off x="8576720" y="3335867"/>
            <a:ext cx="3291840" cy="3200400"/>
          </a:xfrm>
          <a:prstGeom prst="rtTriangle"/>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66" name="Picture 2"/>
          <p:cNvPicPr>
            <a:picLocks noChangeAspect="1"/>
          </p:cNvPicPr>
          <p:nvPr/>
        </p:nvPicPr>
        <p:blipFill>
          <a:blip xmlns:r="http://schemas.openxmlformats.org/officeDocument/2006/relationships" r:embed="rId1"/>
          <a:stretch>
            <a:fillRect/>
          </a:stretch>
        </p:blipFill>
        <p:spPr>
          <a:xfrm>
            <a:off x="1224298" y="737857"/>
            <a:ext cx="9741696" cy="5382286"/>
          </a:xfrm>
          <a:prstGeom prst="rect"/>
        </p:spPr>
      </p:pic>
    </p:spTree>
  </p:cSld>
  <p:clrMapOvr>
    <a:masterClrMapping/>
  </p:clrMapOvr>
  <p:transition spd="med" advClick="1" advTm="45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3" name=""/>
        <p:cNvGrpSpPr/>
        <p:nvPr/>
      </p:nvGrpSpPr>
      <p:grpSpPr>
        <a:xfrm>
          <a:off x="0" y="0"/>
          <a:ext cx="0" cy="0"/>
          <a:chOff x="0" y="0"/>
          <a:chExt cx="0" cy="0"/>
        </a:xfrm>
      </p:grpSpPr>
      <p:sp>
        <p:nvSpPr>
          <p:cNvPr id="1048732"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33" name="Freeform: Shape 9"/>
          <p:cNvSpPr>
            <a:spLocks noChangeAspect="1" noMove="1" noResize="1" noRot="1" noGrp="1" noAdjustHandles="1" noEditPoint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34" name="Rectangle 11"/>
          <p:cNvSpPr>
            <a:spLocks noChangeAspect="1" noMove="1" noResize="1" noRot="1" noGrp="1" noAdjustHandles="1" noEditPoints="1" noChangeArrowheads="1" noChangeShapeType="1" noTextEdit="1"/>
          </p:cNvSpPr>
          <p:nvPr/>
        </p:nvSpPr>
        <p:spPr>
          <a:xfrm rot="18900000" flipH="1">
            <a:off x="891641" y="422146"/>
            <a:ext cx="645368" cy="64536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35" name="Rectangle 13"/>
          <p:cNvSpPr>
            <a:spLocks noChangeAspect="1" noMove="1" noResize="1" noRot="1" noGrp="1" noAdjustHandles="1" noEditPoints="1" noChangeArrowheads="1" noChangeShapeType="1" noTextEdit="1"/>
          </p:cNvSpPr>
          <p:nvPr/>
        </p:nvSpPr>
        <p:spPr>
          <a:xfrm rot="18900000" flipH="1">
            <a:off x="10043482" y="655140"/>
            <a:ext cx="687472" cy="687472"/>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36" name="Freeform: Shape 15"/>
          <p:cNvSpPr>
            <a:spLocks noChangeAspect="1" noMove="1" noResize="1" noRot="1" noGrp="1" noAdjustHandles="1" noEditPoint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a:endParaRPr dirty="0" lang="en-US"/>
          </a:p>
        </p:txBody>
      </p:sp>
      <p:sp>
        <p:nvSpPr>
          <p:cNvPr id="1048737" name="Isosceles Triangle 17"/>
          <p:cNvSpPr>
            <a:spLocks noChangeAspect="1" noMove="1" noResize="1" noRot="1" noGrp="1" noAdjustHandles="1" noEditPoints="1" noChangeArrowheads="1" noChangeShapeType="1" noTextEdit="1"/>
          </p:cNvSpPr>
          <p:nvPr/>
        </p:nvSpPr>
        <p:spPr>
          <a:xfrm flipH="1">
            <a:off x="7976344" y="6115501"/>
            <a:ext cx="1494513" cy="742499"/>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67" name="Picture 2"/>
          <p:cNvPicPr>
            <a:picLocks noChangeAspect="1"/>
          </p:cNvPicPr>
          <p:nvPr/>
        </p:nvPicPr>
        <p:blipFill>
          <a:blip xmlns:r="http://schemas.openxmlformats.org/officeDocument/2006/relationships" r:embed="rId1"/>
          <a:stretch>
            <a:fillRect/>
          </a:stretch>
        </p:blipFill>
        <p:spPr>
          <a:xfrm>
            <a:off x="790223" y="643467"/>
            <a:ext cx="10611553" cy="5571065"/>
          </a:xfrm>
          <a:prstGeom prst="rect"/>
          <a:ln>
            <a:noFill/>
          </a:ln>
        </p:spPr>
      </p:pic>
      <p:sp>
        <p:nvSpPr>
          <p:cNvPr id="1048738" name="Isosceles Triangle 19"/>
          <p:cNvSpPr>
            <a:spLocks noChangeAspect="1" noMove="1" noResize="1" noRot="1" noGrp="1" noAdjustHandles="1" noEditPoints="1" noChangeArrowheads="1" noChangeShapeType="1" noTextEdit="1"/>
          </p:cNvSpPr>
          <p:nvPr/>
        </p:nvSpPr>
        <p:spPr>
          <a:xfrm flipH="1">
            <a:off x="7604080" y="6453143"/>
            <a:ext cx="814903" cy="404857"/>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Tree>
  </p:cSld>
  <p:clrMapOvr>
    <a:masterClrMapping/>
  </p:clrMapOvr>
  <p:transition spd="med" advClick="1" advTm="45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4" name=""/>
        <p:cNvGrpSpPr/>
        <p:nvPr/>
      </p:nvGrpSpPr>
      <p:grpSpPr>
        <a:xfrm>
          <a:off x="0" y="0"/>
          <a:ext cx="0" cy="0"/>
          <a:chOff x="0" y="0"/>
          <a:chExt cx="0" cy="0"/>
        </a:xfrm>
      </p:grpSpPr>
      <p:sp>
        <p:nvSpPr>
          <p:cNvPr id="1048739"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40" name="Freeform: Shape 9"/>
          <p:cNvSpPr>
            <a:spLocks noChangeAspect="1" noMove="1" noResize="1" noRot="1" noGrp="1" noAdjustHandles="1" noEditPoint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41" name="Rectangle 11"/>
          <p:cNvSpPr>
            <a:spLocks noChangeAspect="1" noMove="1" noResize="1" noRot="1" noGrp="1" noAdjustHandles="1" noEditPoints="1" noChangeArrowheads="1" noChangeShapeType="1" noTextEdit="1"/>
          </p:cNvSpPr>
          <p:nvPr/>
        </p:nvSpPr>
        <p:spPr>
          <a:xfrm rot="18900000" flipH="1">
            <a:off x="891641" y="422146"/>
            <a:ext cx="645368" cy="64536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2" name="Rectangle 13"/>
          <p:cNvSpPr>
            <a:spLocks noChangeAspect="1" noMove="1" noResize="1" noRot="1" noGrp="1" noAdjustHandles="1" noEditPoints="1" noChangeArrowheads="1" noChangeShapeType="1" noTextEdit="1"/>
          </p:cNvSpPr>
          <p:nvPr/>
        </p:nvSpPr>
        <p:spPr>
          <a:xfrm rot="18900000" flipH="1">
            <a:off x="10043482" y="655140"/>
            <a:ext cx="687472" cy="687472"/>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3" name="Freeform: Shape 15"/>
          <p:cNvSpPr>
            <a:spLocks noChangeAspect="1" noMove="1" noResize="1" noRot="1" noGrp="1" noAdjustHandles="1" noEditPoint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a:endParaRPr dirty="0" lang="en-US"/>
          </a:p>
        </p:txBody>
      </p:sp>
      <p:sp>
        <p:nvSpPr>
          <p:cNvPr id="1048744" name="Isosceles Triangle 17"/>
          <p:cNvSpPr>
            <a:spLocks noChangeAspect="1" noMove="1" noResize="1" noRot="1" noGrp="1" noAdjustHandles="1" noEditPoints="1" noChangeArrowheads="1" noChangeShapeType="1" noTextEdit="1"/>
          </p:cNvSpPr>
          <p:nvPr/>
        </p:nvSpPr>
        <p:spPr>
          <a:xfrm flipH="1">
            <a:off x="7976344" y="6115501"/>
            <a:ext cx="1494513" cy="742499"/>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68" name="Picture 2"/>
          <p:cNvPicPr>
            <a:picLocks noChangeAspect="1"/>
          </p:cNvPicPr>
          <p:nvPr/>
        </p:nvPicPr>
        <p:blipFill>
          <a:blip xmlns:r="http://schemas.openxmlformats.org/officeDocument/2006/relationships" r:embed="rId1"/>
          <a:stretch>
            <a:fillRect/>
          </a:stretch>
        </p:blipFill>
        <p:spPr>
          <a:xfrm>
            <a:off x="815371" y="643467"/>
            <a:ext cx="10561258" cy="5571065"/>
          </a:xfrm>
          <a:prstGeom prst="rect"/>
          <a:ln>
            <a:noFill/>
          </a:ln>
        </p:spPr>
      </p:pic>
      <p:sp>
        <p:nvSpPr>
          <p:cNvPr id="1048745" name="Isosceles Triangle 19"/>
          <p:cNvSpPr>
            <a:spLocks noChangeAspect="1" noMove="1" noResize="1" noRot="1" noGrp="1" noAdjustHandles="1" noEditPoints="1" noChangeArrowheads="1" noChangeShapeType="1" noTextEdit="1"/>
          </p:cNvSpPr>
          <p:nvPr/>
        </p:nvSpPr>
        <p:spPr>
          <a:xfrm flipH="1">
            <a:off x="7604080" y="6453143"/>
            <a:ext cx="814903" cy="404857"/>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Tree>
  </p:cSld>
  <p:clrMapOvr>
    <a:masterClrMapping/>
  </p:clrMapOvr>
  <p:transition spd="med" advClick="1" advTm="45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5" name=""/>
        <p:cNvGrpSpPr/>
        <p:nvPr/>
      </p:nvGrpSpPr>
      <p:grpSpPr>
        <a:xfrm>
          <a:off x="0" y="0"/>
          <a:ext cx="0" cy="0"/>
          <a:chOff x="0" y="0"/>
          <a:chExt cx="0" cy="0"/>
        </a:xfrm>
      </p:grpSpPr>
      <p:sp>
        <p:nvSpPr>
          <p:cNvPr id="1048746" name="Rectangle 24"/>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66" name="Group 26"/>
          <p:cNvGrpSpPr>
            <a:grpSpLocks noMove="1" noResize="1" noRot="1" noGrp="1" noChangeAspect="1"/>
          </p:cNvGrpSpPr>
          <p:nvPr/>
        </p:nvGrpSpPr>
        <p:grpSpPr>
          <a:xfrm flipH="1">
            <a:off x="10964637" y="2358"/>
            <a:ext cx="1876653" cy="1766008"/>
            <a:chOff x="-648769" y="2358"/>
            <a:chExt cx="1876653" cy="1766008"/>
          </a:xfrm>
        </p:grpSpPr>
        <p:sp>
          <p:nvSpPr>
            <p:cNvPr id="1048747" name="Freeform: Shape 27"/>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8" name="Rectangle 28"/>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749" name="Rectangle 30"/>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50" name="Isosceles Triangle 32"/>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69" name="Picture 2"/>
          <p:cNvPicPr>
            <a:picLocks noChangeAspect="1"/>
          </p:cNvPicPr>
          <p:nvPr/>
        </p:nvPicPr>
        <p:blipFill>
          <a:blip xmlns:r="http://schemas.openxmlformats.org/officeDocument/2006/relationships" r:embed="rId1"/>
          <a:stretch>
            <a:fillRect/>
          </a:stretch>
        </p:blipFill>
        <p:spPr>
          <a:xfrm>
            <a:off x="1077022" y="643467"/>
            <a:ext cx="10037956" cy="5571065"/>
          </a:xfrm>
          <a:prstGeom prst="rect"/>
          <a:ln>
            <a:noFill/>
          </a:ln>
        </p:spPr>
      </p:pic>
    </p:spTree>
  </p:cSld>
  <p:clrMapOvr>
    <a:masterClrMapping/>
  </p:clrMapOvr>
  <p:transition spd="med" advClick="1" advTm="45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7" name=""/>
        <p:cNvGrpSpPr/>
        <p:nvPr/>
      </p:nvGrpSpPr>
      <p:grpSpPr>
        <a:xfrm>
          <a:off x="0" y="0"/>
          <a:ext cx="0" cy="0"/>
          <a:chOff x="0" y="0"/>
          <a:chExt cx="0" cy="0"/>
        </a:xfrm>
      </p:grpSpPr>
      <p:sp>
        <p:nvSpPr>
          <p:cNvPr id="1048751"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68" name="Group 9"/>
          <p:cNvGrpSpPr>
            <a:grpSpLocks noMove="1" noResize="1" noRot="1" noGrp="1" noChangeAspect="1"/>
          </p:cNvGrpSpPr>
          <p:nvPr/>
        </p:nvGrpSpPr>
        <p:grpSpPr>
          <a:xfrm flipH="1">
            <a:off x="10964637" y="2358"/>
            <a:ext cx="1876653" cy="1766008"/>
            <a:chOff x="-648769" y="2358"/>
            <a:chExt cx="1876653" cy="1766008"/>
          </a:xfrm>
        </p:grpSpPr>
        <p:sp>
          <p:nvSpPr>
            <p:cNvPr id="1048752" name="Freeform: Shape 10"/>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53" name="Rectangle 11"/>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754" name="Rectangle 13"/>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55" name="Isosceles Triangle 15"/>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70" name="Picture 2"/>
          <p:cNvPicPr>
            <a:picLocks noChangeAspect="1"/>
          </p:cNvPicPr>
          <p:nvPr/>
        </p:nvPicPr>
        <p:blipFill>
          <a:blip xmlns:r="http://schemas.openxmlformats.org/officeDocument/2006/relationships" r:embed="rId1"/>
          <a:stretch>
            <a:fillRect/>
          </a:stretch>
        </p:blipFill>
        <p:spPr>
          <a:xfrm>
            <a:off x="713328" y="643467"/>
            <a:ext cx="10765344" cy="5571065"/>
          </a:xfrm>
          <a:prstGeom prst="rect"/>
          <a:ln>
            <a:noFill/>
          </a:ln>
        </p:spPr>
      </p:pic>
    </p:spTree>
  </p:cSld>
  <p:clrMapOvr>
    <a:masterClrMapping/>
  </p:clrMapOvr>
  <p:transition spd="med" advClick="1" advTm="45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9" name=""/>
        <p:cNvGrpSpPr/>
        <p:nvPr/>
      </p:nvGrpSpPr>
      <p:grpSpPr>
        <a:xfrm>
          <a:off x="0" y="0"/>
          <a:ext cx="0" cy="0"/>
          <a:chOff x="0" y="0"/>
          <a:chExt cx="0" cy="0"/>
        </a:xfrm>
      </p:grpSpPr>
      <p:sp useBgFill="1">
        <p:nvSpPr>
          <p:cNvPr id="1048756"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57"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71" name="Picture 2"/>
          <p:cNvPicPr>
            <a:picLocks noChangeAspect="1"/>
          </p:cNvPicPr>
          <p:nvPr/>
        </p:nvPicPr>
        <p:blipFill>
          <a:blip xmlns:r="http://schemas.openxmlformats.org/officeDocument/2006/relationships" r:embed="rId1"/>
          <a:srcRect r="1" b="1712"/>
          <a:stretch>
            <a:fillRect/>
          </a:stretch>
        </p:blipFill>
        <p:spPr>
          <a:xfrm>
            <a:off x="583656" y="499236"/>
            <a:ext cx="11024687" cy="5688918"/>
          </a:xfrm>
          <a:prstGeom prst="rect"/>
        </p:spPr>
      </p:pic>
    </p:spTree>
  </p:cSld>
  <p:clrMapOvr>
    <a:masterClrMapping/>
  </p:clrMapOvr>
  <p:transition spd="med" advClick="1" advTm="45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0" name=""/>
        <p:cNvGrpSpPr/>
        <p:nvPr/>
      </p:nvGrpSpPr>
      <p:grpSpPr>
        <a:xfrm>
          <a:off x="0" y="0"/>
          <a:ext cx="0" cy="0"/>
          <a:chOff x="0" y="0"/>
          <a:chExt cx="0" cy="0"/>
        </a:xfrm>
      </p:grpSpPr>
      <p:sp useBgFill="1">
        <p:nvSpPr>
          <p:cNvPr id="1048758"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59"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72" name="Picture 2"/>
          <p:cNvPicPr>
            <a:picLocks noChangeAspect="1"/>
          </p:cNvPicPr>
          <p:nvPr/>
        </p:nvPicPr>
        <p:blipFill>
          <a:blip xmlns:r="http://schemas.openxmlformats.org/officeDocument/2006/relationships" r:embed="rId1"/>
          <a:srcRect t="2638" r="1" b="1"/>
          <a:stretch>
            <a:fillRect/>
          </a:stretch>
        </p:blipFill>
        <p:spPr>
          <a:xfrm>
            <a:off x="583656" y="499236"/>
            <a:ext cx="11024687" cy="5688918"/>
          </a:xfrm>
          <a:prstGeom prst="rect"/>
        </p:spPr>
      </p:pic>
    </p:spTree>
  </p:cSld>
  <p:clrMapOvr>
    <a:masterClrMapping/>
  </p:clrMapOvr>
  <p:transition spd="med" advClick="1" advTm="45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1" name=""/>
        <p:cNvGrpSpPr/>
        <p:nvPr/>
      </p:nvGrpSpPr>
      <p:grpSpPr>
        <a:xfrm>
          <a:off x="0" y="0"/>
          <a:ext cx="0" cy="0"/>
          <a:chOff x="0" y="0"/>
          <a:chExt cx="0" cy="0"/>
        </a:xfrm>
      </p:grpSpPr>
      <p:sp useBgFill="1">
        <p:nvSpPr>
          <p:cNvPr id="1048760"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61"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73" name="Picture 2"/>
          <p:cNvPicPr>
            <a:picLocks noChangeAspect="1"/>
          </p:cNvPicPr>
          <p:nvPr/>
        </p:nvPicPr>
        <p:blipFill>
          <a:blip xmlns:r="http://schemas.openxmlformats.org/officeDocument/2006/relationships" r:embed="rId1"/>
          <a:srcRect r="1" b="2178"/>
          <a:stretch>
            <a:fillRect/>
          </a:stretch>
        </p:blipFill>
        <p:spPr>
          <a:xfrm>
            <a:off x="583656" y="499236"/>
            <a:ext cx="11024687" cy="5688918"/>
          </a:xfrm>
          <a:prstGeom prst="rect"/>
        </p:spPr>
      </p:pic>
    </p:spTree>
  </p:cSld>
  <p:clrMapOvr>
    <a:masterClrMapping/>
  </p:clrMapOvr>
  <p:transition spd="med" advClick="1" advTm="45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2" name=""/>
        <p:cNvGrpSpPr/>
        <p:nvPr/>
      </p:nvGrpSpPr>
      <p:grpSpPr>
        <a:xfrm>
          <a:off x="0" y="0"/>
          <a:ext cx="0" cy="0"/>
          <a:chOff x="0" y="0"/>
          <a:chExt cx="0" cy="0"/>
        </a:xfrm>
      </p:grpSpPr>
      <p:sp useBgFill="1">
        <p:nvSpPr>
          <p:cNvPr id="1048762"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63"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74" name="Picture 2"/>
          <p:cNvPicPr>
            <a:picLocks noChangeAspect="1"/>
          </p:cNvPicPr>
          <p:nvPr/>
        </p:nvPicPr>
        <p:blipFill>
          <a:blip xmlns:r="http://schemas.openxmlformats.org/officeDocument/2006/relationships" r:embed="rId1"/>
          <a:srcRect r="1" b="3097"/>
          <a:stretch>
            <a:fillRect/>
          </a:stretch>
        </p:blipFill>
        <p:spPr>
          <a:xfrm>
            <a:off x="583656" y="499236"/>
            <a:ext cx="11024687" cy="5688918"/>
          </a:xfrm>
          <a:prstGeom prst="rect"/>
        </p:spPr>
      </p:pic>
    </p:spTree>
  </p:cSld>
  <p:clrMapOvr>
    <a:masterClrMapping/>
  </p:clrMapOvr>
  <p:transition spd="med" advClick="1" advTm="45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3" name=""/>
        <p:cNvGrpSpPr/>
        <p:nvPr/>
      </p:nvGrpSpPr>
      <p:grpSpPr>
        <a:xfrm>
          <a:off x="0" y="0"/>
          <a:ext cx="0" cy="0"/>
          <a:chOff x="0" y="0"/>
          <a:chExt cx="0" cy="0"/>
        </a:xfrm>
      </p:grpSpPr>
      <p:sp useBgFill="1">
        <p:nvSpPr>
          <p:cNvPr id="1048764"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65"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75" name="Picture 2"/>
          <p:cNvPicPr>
            <a:picLocks noChangeAspect="1"/>
          </p:cNvPicPr>
          <p:nvPr/>
        </p:nvPicPr>
        <p:blipFill>
          <a:blip xmlns:r="http://schemas.openxmlformats.org/officeDocument/2006/relationships" r:embed="rId1"/>
          <a:srcRect r="1" b="1712"/>
          <a:stretch>
            <a:fillRect/>
          </a:stretch>
        </p:blipFill>
        <p:spPr>
          <a:xfrm>
            <a:off x="583656" y="499236"/>
            <a:ext cx="11024687" cy="5688918"/>
          </a:xfrm>
          <a:prstGeom prst="rect"/>
        </p:spPr>
      </p:pic>
    </p:spTree>
  </p:cSld>
  <p:clrMapOvr>
    <a:masterClrMapping/>
  </p:clrMapOvr>
  <p:transition spd="med" advClick="1" advTm="45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4" name=""/>
        <p:cNvGrpSpPr/>
        <p:nvPr/>
      </p:nvGrpSpPr>
      <p:grpSpPr>
        <a:xfrm>
          <a:off x="0" y="0"/>
          <a:ext cx="0" cy="0"/>
          <a:chOff x="0" y="0"/>
          <a:chExt cx="0" cy="0"/>
        </a:xfrm>
      </p:grpSpPr>
      <p:sp>
        <p:nvSpPr>
          <p:cNvPr id="1048766"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67" name="Freeform: Shape 9"/>
          <p:cNvSpPr>
            <a:spLocks noChangeAspect="1" noMove="1" noResize="1" noRot="1" noGrp="1" noAdjustHandles="1" noEditPoint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68" name="Rectangle 11"/>
          <p:cNvSpPr>
            <a:spLocks noChangeAspect="1" noMove="1" noResize="1" noRot="1" noGrp="1" noAdjustHandles="1" noEditPoints="1" noChangeArrowheads="1" noChangeShapeType="1" noTextEdit="1"/>
          </p:cNvSpPr>
          <p:nvPr/>
        </p:nvSpPr>
        <p:spPr>
          <a:xfrm rot="18900000" flipH="1">
            <a:off x="891641" y="422146"/>
            <a:ext cx="645368" cy="64536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69" name="Rectangle 13"/>
          <p:cNvSpPr>
            <a:spLocks noChangeAspect="1" noMove="1" noResize="1" noRot="1" noGrp="1" noAdjustHandles="1" noEditPoints="1" noChangeArrowheads="1" noChangeShapeType="1" noTextEdit="1"/>
          </p:cNvSpPr>
          <p:nvPr/>
        </p:nvSpPr>
        <p:spPr>
          <a:xfrm rot="18900000" flipH="1">
            <a:off x="10043482" y="655140"/>
            <a:ext cx="687472" cy="687472"/>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70" name="Freeform: Shape 15"/>
          <p:cNvSpPr>
            <a:spLocks noChangeAspect="1" noMove="1" noResize="1" noRot="1" noGrp="1" noAdjustHandles="1" noEditPoint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a:endParaRPr dirty="0" lang="en-US"/>
          </a:p>
        </p:txBody>
      </p:sp>
      <p:sp>
        <p:nvSpPr>
          <p:cNvPr id="1048771" name="Isosceles Triangle 17"/>
          <p:cNvSpPr>
            <a:spLocks noChangeAspect="1" noMove="1" noResize="1" noRot="1" noGrp="1" noAdjustHandles="1" noEditPoints="1" noChangeArrowheads="1" noChangeShapeType="1" noTextEdit="1"/>
          </p:cNvSpPr>
          <p:nvPr/>
        </p:nvSpPr>
        <p:spPr>
          <a:xfrm flipH="1">
            <a:off x="7976344" y="6115501"/>
            <a:ext cx="1494513" cy="742499"/>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76" name="Picture 2"/>
          <p:cNvPicPr>
            <a:picLocks noChangeAspect="1"/>
          </p:cNvPicPr>
          <p:nvPr/>
        </p:nvPicPr>
        <p:blipFill>
          <a:blip xmlns:r="http://schemas.openxmlformats.org/officeDocument/2006/relationships" r:embed="rId1"/>
          <a:stretch>
            <a:fillRect/>
          </a:stretch>
        </p:blipFill>
        <p:spPr>
          <a:xfrm>
            <a:off x="713328" y="643467"/>
            <a:ext cx="10765344" cy="5571065"/>
          </a:xfrm>
          <a:prstGeom prst="rect"/>
          <a:ln>
            <a:noFill/>
          </a:ln>
        </p:spPr>
      </p:pic>
      <p:sp>
        <p:nvSpPr>
          <p:cNvPr id="1048772" name="Isosceles Triangle 19"/>
          <p:cNvSpPr>
            <a:spLocks noChangeAspect="1" noMove="1" noResize="1" noRot="1" noGrp="1" noAdjustHandles="1" noEditPoints="1" noChangeArrowheads="1" noChangeShapeType="1" noTextEdit="1"/>
          </p:cNvSpPr>
          <p:nvPr/>
        </p:nvSpPr>
        <p:spPr>
          <a:xfrm flipH="1">
            <a:off x="7604080" y="6453143"/>
            <a:ext cx="814903" cy="404857"/>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Tree>
  </p:cSld>
  <p:clrMapOvr>
    <a:masterClrMapping/>
  </p:clrMapOvr>
  <p:transition spd="med" advClick="1" advTm="45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5" name=""/>
        <p:cNvGrpSpPr/>
        <p:nvPr/>
      </p:nvGrpSpPr>
      <p:grpSpPr>
        <a:xfrm>
          <a:off x="0" y="0"/>
          <a:ext cx="0" cy="0"/>
          <a:chOff x="0" y="0"/>
          <a:chExt cx="0" cy="0"/>
        </a:xfrm>
      </p:grpSpPr>
      <p:sp>
        <p:nvSpPr>
          <p:cNvPr id="1048773"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74" name="Freeform: Shape 9"/>
          <p:cNvSpPr>
            <a:spLocks noChangeAspect="1" noMove="1" noResize="1" noRot="1" noGrp="1" noAdjustHandles="1" noEditPoint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75" name="Rectangle 11"/>
          <p:cNvSpPr>
            <a:spLocks noChangeAspect="1" noMove="1" noResize="1" noRot="1" noGrp="1" noAdjustHandles="1" noEditPoints="1" noChangeArrowheads="1" noChangeShapeType="1" noTextEdit="1"/>
          </p:cNvSpPr>
          <p:nvPr/>
        </p:nvSpPr>
        <p:spPr>
          <a:xfrm rot="18900000" flipH="1">
            <a:off x="891641" y="422146"/>
            <a:ext cx="645368" cy="64536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76" name="Rectangle 13"/>
          <p:cNvSpPr>
            <a:spLocks noChangeAspect="1" noMove="1" noResize="1" noRot="1" noGrp="1" noAdjustHandles="1" noEditPoints="1" noChangeArrowheads="1" noChangeShapeType="1" noTextEdit="1"/>
          </p:cNvSpPr>
          <p:nvPr/>
        </p:nvSpPr>
        <p:spPr>
          <a:xfrm rot="18900000" flipH="1">
            <a:off x="10043482" y="655140"/>
            <a:ext cx="687472" cy="687472"/>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77" name="Freeform: Shape 15"/>
          <p:cNvSpPr>
            <a:spLocks noChangeAspect="1" noMove="1" noResize="1" noRot="1" noGrp="1" noAdjustHandles="1" noEditPoint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a:endParaRPr dirty="0" lang="en-US"/>
          </a:p>
        </p:txBody>
      </p:sp>
      <p:sp>
        <p:nvSpPr>
          <p:cNvPr id="1048778" name="Isosceles Triangle 17"/>
          <p:cNvSpPr>
            <a:spLocks noChangeAspect="1" noMove="1" noResize="1" noRot="1" noGrp="1" noAdjustHandles="1" noEditPoints="1" noChangeArrowheads="1" noChangeShapeType="1" noTextEdit="1"/>
          </p:cNvSpPr>
          <p:nvPr/>
        </p:nvSpPr>
        <p:spPr>
          <a:xfrm flipH="1">
            <a:off x="7976344" y="6115501"/>
            <a:ext cx="1494513" cy="742499"/>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77" name="Picture 2"/>
          <p:cNvPicPr>
            <a:picLocks noChangeAspect="1"/>
          </p:cNvPicPr>
          <p:nvPr/>
        </p:nvPicPr>
        <p:blipFill>
          <a:blip xmlns:r="http://schemas.openxmlformats.org/officeDocument/2006/relationships" r:embed="rId1"/>
          <a:stretch>
            <a:fillRect/>
          </a:stretch>
        </p:blipFill>
        <p:spPr>
          <a:xfrm>
            <a:off x="1143942" y="643467"/>
            <a:ext cx="9904116" cy="5571065"/>
          </a:xfrm>
          <a:prstGeom prst="rect"/>
          <a:ln>
            <a:noFill/>
          </a:ln>
        </p:spPr>
      </p:pic>
      <p:sp>
        <p:nvSpPr>
          <p:cNvPr id="1048779" name="Isosceles Triangle 19"/>
          <p:cNvSpPr>
            <a:spLocks noChangeAspect="1" noMove="1" noResize="1" noRot="1" noGrp="1" noAdjustHandles="1" noEditPoints="1" noChangeArrowheads="1" noChangeShapeType="1" noTextEdit="1"/>
          </p:cNvSpPr>
          <p:nvPr/>
        </p:nvSpPr>
        <p:spPr>
          <a:xfrm flipH="1">
            <a:off x="7604080" y="6453143"/>
            <a:ext cx="814903" cy="404857"/>
          </a:xfrm>
          <a:prstGeom prst="triangle"/>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Tree>
  </p:cSld>
  <p:clrMapOvr>
    <a:masterClrMapping/>
  </p:clrMapOvr>
  <p:transition spd="med" advClick="1" advTm="45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6" name=""/>
        <p:cNvGrpSpPr/>
        <p:nvPr/>
      </p:nvGrpSpPr>
      <p:grpSpPr>
        <a:xfrm>
          <a:off x="0" y="0"/>
          <a:ext cx="0" cy="0"/>
          <a:chOff x="0" y="0"/>
          <a:chExt cx="0" cy="0"/>
        </a:xfrm>
      </p:grpSpPr>
      <p:sp>
        <p:nvSpPr>
          <p:cNvPr id="1048780"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77" name="Group 9"/>
          <p:cNvGrpSpPr>
            <a:grpSpLocks noMove="1" noResize="1" noRot="1" noGrp="1" noChangeAspect="1"/>
          </p:cNvGrpSpPr>
          <p:nvPr/>
        </p:nvGrpSpPr>
        <p:grpSpPr>
          <a:xfrm flipH="1">
            <a:off x="10964637" y="2358"/>
            <a:ext cx="1876653" cy="1766008"/>
            <a:chOff x="-648769" y="2358"/>
            <a:chExt cx="1876653" cy="1766008"/>
          </a:xfrm>
        </p:grpSpPr>
        <p:sp>
          <p:nvSpPr>
            <p:cNvPr id="1048781" name="Freeform: Shape 10"/>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82" name="Rectangle 11"/>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783" name="Rectangle 13"/>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84" name="Isosceles Triangle 15"/>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78" name="Picture 2"/>
          <p:cNvPicPr>
            <a:picLocks noChangeAspect="1"/>
          </p:cNvPicPr>
          <p:nvPr/>
        </p:nvPicPr>
        <p:blipFill>
          <a:blip xmlns:r="http://schemas.openxmlformats.org/officeDocument/2006/relationships" r:embed="rId1"/>
          <a:stretch>
            <a:fillRect/>
          </a:stretch>
        </p:blipFill>
        <p:spPr>
          <a:xfrm>
            <a:off x="1099528" y="643467"/>
            <a:ext cx="9992944" cy="5571065"/>
          </a:xfrm>
          <a:prstGeom prst="rect"/>
          <a:ln>
            <a:noFill/>
          </a:ln>
        </p:spPr>
      </p:pic>
    </p:spTree>
  </p:cSld>
  <p:clrMapOvr>
    <a:masterClrMapping/>
  </p:clrMapOvr>
  <p:transition spd="med" advClick="1" advTm="45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8" name=""/>
        <p:cNvGrpSpPr/>
        <p:nvPr/>
      </p:nvGrpSpPr>
      <p:grpSpPr>
        <a:xfrm>
          <a:off x="0" y="0"/>
          <a:ext cx="0" cy="0"/>
          <a:chOff x="0" y="0"/>
          <a:chExt cx="0" cy="0"/>
        </a:xfrm>
      </p:grpSpPr>
      <p:sp>
        <p:nvSpPr>
          <p:cNvPr id="1048785"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79" name="Group 9"/>
          <p:cNvGrpSpPr>
            <a:grpSpLocks noMove="1" noResize="1" noRot="1" noGrp="1" noChangeAspect="1"/>
          </p:cNvGrpSpPr>
          <p:nvPr/>
        </p:nvGrpSpPr>
        <p:grpSpPr>
          <a:xfrm flipH="1">
            <a:off x="10964637" y="2358"/>
            <a:ext cx="1876653" cy="1766008"/>
            <a:chOff x="-648769" y="2358"/>
            <a:chExt cx="1876653" cy="1766008"/>
          </a:xfrm>
        </p:grpSpPr>
        <p:sp>
          <p:nvSpPr>
            <p:cNvPr id="1048786" name="Freeform: Shape 10"/>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87" name="Rectangle 11"/>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788" name="Rectangle 13"/>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89" name="Isosceles Triangle 15"/>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79" name="Picture 2"/>
          <p:cNvPicPr>
            <a:picLocks noChangeAspect="1"/>
          </p:cNvPicPr>
          <p:nvPr/>
        </p:nvPicPr>
        <p:blipFill>
          <a:blip xmlns:r="http://schemas.openxmlformats.org/officeDocument/2006/relationships" r:embed="rId1"/>
          <a:stretch>
            <a:fillRect/>
          </a:stretch>
        </p:blipFill>
        <p:spPr>
          <a:xfrm>
            <a:off x="790223" y="643467"/>
            <a:ext cx="10611553" cy="5571065"/>
          </a:xfrm>
          <a:prstGeom prst="rect"/>
          <a:ln>
            <a:noFill/>
          </a:ln>
        </p:spPr>
      </p:pic>
    </p:spTree>
  </p:cSld>
  <p:clrMapOvr>
    <a:masterClrMapping/>
  </p:clrMapOvr>
  <p:transition spd="med" advClick="1" advTm="45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80" name=""/>
        <p:cNvGrpSpPr/>
        <p:nvPr/>
      </p:nvGrpSpPr>
      <p:grpSpPr>
        <a:xfrm>
          <a:off x="0" y="0"/>
          <a:ext cx="0" cy="0"/>
          <a:chOff x="0" y="0"/>
          <a:chExt cx="0" cy="0"/>
        </a:xfrm>
      </p:grpSpPr>
      <p:sp>
        <p:nvSpPr>
          <p:cNvPr id="1048790" name="Rectangle 7"/>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81" name="Group 9"/>
          <p:cNvGrpSpPr>
            <a:grpSpLocks noMove="1" noResize="1" noRot="1" noGrp="1" noChangeAspect="1"/>
          </p:cNvGrpSpPr>
          <p:nvPr/>
        </p:nvGrpSpPr>
        <p:grpSpPr>
          <a:xfrm flipH="1">
            <a:off x="10964637" y="2358"/>
            <a:ext cx="1876653" cy="1766008"/>
            <a:chOff x="-648769" y="2358"/>
            <a:chExt cx="1876653" cy="1766008"/>
          </a:xfrm>
        </p:grpSpPr>
        <p:sp>
          <p:nvSpPr>
            <p:cNvPr id="1048791" name="Freeform: Shape 10"/>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92" name="Rectangle 11"/>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793" name="Rectangle 13"/>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94" name="Isosceles Triangle 15"/>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80" name="Picture 2"/>
          <p:cNvPicPr>
            <a:picLocks noChangeAspect="1"/>
          </p:cNvPicPr>
          <p:nvPr/>
        </p:nvPicPr>
        <p:blipFill>
          <a:blip xmlns:r="http://schemas.openxmlformats.org/officeDocument/2006/relationships" r:embed="rId1"/>
          <a:stretch>
            <a:fillRect/>
          </a:stretch>
        </p:blipFill>
        <p:spPr>
          <a:xfrm>
            <a:off x="790223" y="643467"/>
            <a:ext cx="10611553" cy="5571065"/>
          </a:xfrm>
          <a:prstGeom prst="rect"/>
          <a:ln>
            <a:noFill/>
          </a:ln>
        </p:spPr>
      </p:pic>
    </p:spTree>
  </p:cSld>
  <p:clrMapOvr>
    <a:masterClrMapping/>
  </p:clrMapOvr>
  <p:transition spd="med" advClick="1" advTm="45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82" name=""/>
        <p:cNvGrpSpPr/>
        <p:nvPr/>
      </p:nvGrpSpPr>
      <p:grpSpPr>
        <a:xfrm>
          <a:off x="0" y="0"/>
          <a:ext cx="0" cy="0"/>
          <a:chOff x="0" y="0"/>
          <a:chExt cx="0" cy="0"/>
        </a:xfrm>
      </p:grpSpPr>
      <p:sp useBgFill="1">
        <p:nvSpPr>
          <p:cNvPr id="1048795" name="Rectangle 7"/>
          <p:cNvSpPr>
            <a:spLocks noChangeAspect="1" noMove="1" noResize="1" noRot="1" noGrp="1" noAdjustHandles="1" noEditPoints="1" noChangeArrowheads="1" noChangeShapeType="1" noTextEdit="1"/>
          </p:cNvSpPr>
          <p:nvPr/>
        </p:nvSpPr>
        <p:spPr>
          <a:xfrm>
            <a:off x="0" y="0"/>
            <a:ext cx="12192000" cy="6858000"/>
          </a:xfrm>
          <a:prstGeom prst="rect"/>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96" name="Rectangle 9"/>
          <p:cNvSpPr>
            <a:spLocks noChangeAspect="1" noMove="1" noResize="1" noRot="1" noGrp="1" noAdjustHandles="1" noEditPoints="1" noChangeArrowheads="1" noChangeShapeType="1" noTextEdit="1"/>
          </p:cNvSpPr>
          <p:nvPr/>
        </p:nvSpPr>
        <p:spPr>
          <a:xfrm rot="16200000">
            <a:off x="-2748766" y="3248002"/>
            <a:ext cx="5688917" cy="191386"/>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baseline="0" b="0" cap="none" sz="1800" i="0" kern="1200" kumimoji="0" lang="en-US" noProof="0" normalizeH="0" spc="0" strike="noStrike" u="none">
              <a:ln>
                <a:noFill/>
              </a:ln>
              <a:solidFill>
                <a:prstClr val="white"/>
              </a:solidFill>
              <a:effectLst/>
              <a:uLnTx/>
              <a:uFillTx/>
              <a:latin typeface="Calibri" panose="020F0502020204030204"/>
              <a:ea typeface="+mn-ea"/>
              <a:cs typeface="+mn-cs"/>
            </a:endParaRPr>
          </a:p>
        </p:txBody>
      </p:sp>
      <p:pic>
        <p:nvPicPr>
          <p:cNvPr id="2097181" name="Picture 2"/>
          <p:cNvPicPr>
            <a:picLocks noChangeAspect="1"/>
          </p:cNvPicPr>
          <p:nvPr/>
        </p:nvPicPr>
        <p:blipFill>
          <a:blip xmlns:r="http://schemas.openxmlformats.org/officeDocument/2006/relationships" r:embed="rId1"/>
          <a:srcRect r="1" b="1712"/>
          <a:stretch>
            <a:fillRect/>
          </a:stretch>
        </p:blipFill>
        <p:spPr>
          <a:xfrm>
            <a:off x="583656" y="499236"/>
            <a:ext cx="11024687" cy="5688918"/>
          </a:xfrm>
          <a:prstGeom prst="rect"/>
        </p:spPr>
      </p:pic>
    </p:spTree>
  </p:cSld>
  <p:clrMapOvr>
    <a:masterClrMapping/>
  </p:clrMapOvr>
  <p:transition spd="med" advClick="1" advTm="45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83" name=""/>
        <p:cNvGrpSpPr/>
        <p:nvPr/>
      </p:nvGrpSpPr>
      <p:grpSpPr>
        <a:xfrm>
          <a:off x="0" y="0"/>
          <a:ext cx="0" cy="0"/>
          <a:chOff x="0" y="0"/>
          <a:chExt cx="0" cy="0"/>
        </a:xfrm>
      </p:grpSpPr>
      <p:sp>
        <p:nvSpPr>
          <p:cNvPr id="1048797" name="Rectangle 12"/>
          <p:cNvSpPr>
            <a:spLocks noChangeAspect="1" noMove="1" noResize="1" noRot="1" noGrp="1" noAdjustHandles="1" noEditPoints="1" noChangeArrowheads="1" noChangeShapeType="1" noTextEdit="1"/>
          </p:cNvSpPr>
          <p:nvPr/>
        </p:nvSpPr>
        <p:spPr>
          <a:xfrm>
            <a:off x="0" y="0"/>
            <a:ext cx="12192000" cy="6858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grpSp>
        <p:nvGrpSpPr>
          <p:cNvPr id="84" name="Group 9"/>
          <p:cNvGrpSpPr>
            <a:grpSpLocks noMove="1" noResize="1" noRot="1" noGrp="1" noChangeAspect="1"/>
          </p:cNvGrpSpPr>
          <p:nvPr/>
        </p:nvGrpSpPr>
        <p:grpSpPr>
          <a:xfrm flipH="1">
            <a:off x="10964637" y="2358"/>
            <a:ext cx="1876653" cy="1766008"/>
            <a:chOff x="-648769" y="2358"/>
            <a:chExt cx="1876653" cy="1766008"/>
          </a:xfrm>
        </p:grpSpPr>
        <p:sp>
          <p:nvSpPr>
            <p:cNvPr id="1048798" name="Freeform: Shape 10"/>
            <p:cNvSpPr/>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99" name="Rectangle 11"/>
            <p:cNvSpPr/>
            <p:nvPr/>
          </p:nvSpPr>
          <p:spPr>
            <a:xfrm rot="2700000">
              <a:off x="301285" y="1282788"/>
              <a:ext cx="485578" cy="485578"/>
            </a:xfrm>
            <a:prstGeom prst="rect"/>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8800" name="Rectangle 13"/>
          <p:cNvSpPr>
            <a:spLocks noChangeAspect="1" noMove="1" noResize="1" noRot="1" noGrp="1" noAdjustHandles="1" noEditPoints="1" noChangeArrowheads="1" noChangeShapeType="1" noTextEdit="1"/>
          </p:cNvSpPr>
          <p:nvPr/>
        </p:nvSpPr>
        <p:spPr>
          <a:xfrm rot="2700000">
            <a:off x="2737196" y="6033666"/>
            <a:ext cx="645368" cy="645368"/>
          </a:xfrm>
          <a:prstGeom prst="rect"/>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01" name="Isosceles Triangle 15"/>
          <p:cNvSpPr>
            <a:spLocks noChangeAspect="1" noMove="1" noResize="1" noRot="1" noGrp="1" noAdjustHandles="1" noEditPoints="1" noChangeArrowheads="1" noChangeShapeType="1" noTextEdit="1"/>
          </p:cNvSpPr>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82" name="Picture 2"/>
          <p:cNvPicPr>
            <a:picLocks noChangeAspect="1"/>
          </p:cNvPicPr>
          <p:nvPr/>
        </p:nvPicPr>
        <p:blipFill>
          <a:blip xmlns:r="http://schemas.openxmlformats.org/officeDocument/2006/relationships" r:embed="rId1"/>
          <a:stretch>
            <a:fillRect/>
          </a:stretch>
        </p:blipFill>
        <p:spPr>
          <a:xfrm>
            <a:off x="1639148" y="643467"/>
            <a:ext cx="8913704" cy="5571065"/>
          </a:xfrm>
          <a:prstGeom prst="rect"/>
          <a:ln>
            <a:noFill/>
          </a:ln>
        </p:spPr>
      </p:pic>
    </p:spTree>
  </p:cSld>
  <p:clrMapOvr>
    <a:masterClrMapping/>
  </p:clrMapOvr>
  <p:transition spd="med" advClick="1" advTm="7500">
    <p:fade/>
  </p:transition>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Thapelo Mpete</cp:lastModifiedBy>
  <dcterms:created xsi:type="dcterms:W3CDTF">2026-07-21T17:16:46Z</dcterms:created>
  <dcterms:modified xsi:type="dcterms:W3CDTF">2026-07-23T03:25:42Z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480c03c470894a6992794f2a5127e31c_23</vt:lpwstr>
  </property>
</Properties>
</file>